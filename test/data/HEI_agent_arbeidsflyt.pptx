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6" r:id="rId9"/>
    <p:sldId id="263" r:id="rId10"/>
    <p:sldId id="269" r:id="rId11"/>
    <p:sldId id="264" r:id="rId12"/>
    <p:sldId id="27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19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1980000"/>
            <a:ext cx="1039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Agent-arbeidsflyt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060000"/>
            <a:ext cx="1039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7F1"/>
                </a:solidFill>
                <a:latin typeface="Calibri"/>
              </a:rPr>
              <a:t>Hva analyze_query kartlegger — og veien til help_after_harm og refuse_harm_to_others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5040000"/>
            <a:ext cx="1039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7F1"/>
                </a:solidFill>
                <a:latin typeface="Calibri"/>
              </a:rPr>
              <a:t>HEI 2.0 — KI-chatbot for ungdom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B6CF40-C1E9-CD14-B52C-AAC7E0978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48" y="0"/>
            <a:ext cx="6052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6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Arbeidsflyten i grovt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LangGraph-statemaskin, definert i agent_workflow_answer.py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440000"/>
            <a:ext cx="1080000" cy="503999"/>
          </a:xfrm>
          <a:prstGeom prst="roundRect">
            <a:avLst/>
          </a:prstGeom>
          <a:solidFill>
            <a:srgbClr val="E2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1400" b="1">
                <a:solidFill>
                  <a:srgbClr val="212C4E"/>
                </a:solidFill>
                <a:latin typeface="Calibri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2000" y="1440000"/>
            <a:ext cx="2340000" cy="503999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analyze_query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12000" y="1692000"/>
            <a:ext cx="360000" cy="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99782" y="1285169"/>
            <a:ext cx="2340000" cy="792000"/>
          </a:xfrm>
          <a:prstGeom prst="round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route_after_analysis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12000" y="1692000"/>
            <a:ext cx="648000" cy="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2000" y="3220700"/>
            <a:ext cx="2592000" cy="936000"/>
          </a:xfrm>
          <a:prstGeom prst="roundRect">
            <a:avLst/>
          </a:prstGeom>
          <a:solidFill>
            <a:srgbClr val="FC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r>
              <a:rPr sz="1400" b="1" dirty="0" err="1">
                <a:solidFill>
                  <a:srgbClr val="B13A3A"/>
                </a:solidFill>
                <a:latin typeface="Calibri"/>
              </a:rPr>
              <a:t>refuse_harm_to_others</a:t>
            </a:r>
            <a:endParaRPr sz="1400" b="1" dirty="0">
              <a:solidFill>
                <a:srgbClr val="B13A3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12C4E"/>
                </a:solidFill>
                <a:latin typeface="Calibri"/>
              </a:rPr>
              <a:t>stance=</a:t>
            </a:r>
            <a:r>
              <a:rPr sz="1100" dirty="0" err="1">
                <a:solidFill>
                  <a:srgbClr val="212C4E"/>
                </a:solidFill>
                <a:latin typeface="Calibri"/>
              </a:rPr>
              <a:t>harm_to_others</a:t>
            </a:r>
            <a:r>
              <a:rPr sz="1100" dirty="0">
                <a:solidFill>
                  <a:srgbClr val="212C4E"/>
                </a:solidFill>
                <a:latin typeface="Calibri"/>
              </a:rPr>
              <a:t>
tense=planning / unclear</a:t>
            </a:r>
          </a:p>
        </p:txBody>
      </p:sp>
      <p:cxnSp>
        <p:nvCxnSpPr>
          <p:cNvPr id="10" name="Connector 9"/>
          <p:cNvCxnSpPr>
            <a:cxnSpLocks/>
            <a:stCxn id="7" idx="2"/>
            <a:endCxn id="9" idx="0"/>
          </p:cNvCxnSpPr>
          <p:nvPr/>
        </p:nvCxnSpPr>
        <p:spPr>
          <a:xfrm flipH="1">
            <a:off x="1728000" y="2077169"/>
            <a:ext cx="4341782" cy="1143531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0000" y="3220700"/>
            <a:ext cx="2592000" cy="936000"/>
          </a:xfrm>
          <a:prstGeom prst="roundRect">
            <a:avLst/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>help_after_harm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stance=harm_to_others
tense=completed</a:t>
            </a:r>
          </a:p>
        </p:txBody>
      </p:sp>
      <p:cxnSp>
        <p:nvCxnSpPr>
          <p:cNvPr id="12" name="Connector 11"/>
          <p:cNvCxnSpPr>
            <a:cxnSpLocks/>
            <a:stCxn id="7" idx="2"/>
            <a:endCxn id="11" idx="0"/>
          </p:cNvCxnSpPr>
          <p:nvPr/>
        </p:nvCxnSpPr>
        <p:spPr>
          <a:xfrm flipH="1">
            <a:off x="4716000" y="2077169"/>
            <a:ext cx="1353782" cy="1143531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8000" y="3220700"/>
            <a:ext cx="2592000" cy="936000"/>
          </a:xfrm>
          <a:prstGeom prst="roundRect">
            <a:avLst/>
          </a:prstGeom>
          <a:solidFill>
            <a:srgbClr val="E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r>
              <a:rPr sz="1400" b="1">
                <a:solidFill>
                  <a:srgbClr val="3368C6"/>
                </a:solidFill>
                <a:latin typeface="Calibri"/>
              </a:rPr>
              <a:t>fast_single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ett spørsmål, ingen subqueries</a:t>
            </a:r>
          </a:p>
        </p:txBody>
      </p:sp>
      <p:cxnSp>
        <p:nvCxnSpPr>
          <p:cNvPr id="14" name="Connector 13"/>
          <p:cNvCxnSpPr>
            <a:cxnSpLocks/>
            <a:stCxn id="7" idx="2"/>
            <a:endCxn id="13" idx="0"/>
          </p:cNvCxnSpPr>
          <p:nvPr/>
        </p:nvCxnSpPr>
        <p:spPr>
          <a:xfrm>
            <a:off x="6069782" y="2077169"/>
            <a:ext cx="1634218" cy="1143531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0000" y="3220700"/>
            <a:ext cx="2592000" cy="936000"/>
          </a:xfrm>
          <a:prstGeom prst="roundRect">
            <a:avLst/>
          </a:prstGeom>
          <a:solidFill>
            <a:srgbClr val="E2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r>
              <a:rPr sz="1400" b="1">
                <a:solidFill>
                  <a:srgbClr val="212C4E"/>
                </a:solidFill>
                <a:latin typeface="Calibri"/>
              </a:rPr>
              <a:t>orchestrator → workers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needs_subqueries = True</a:t>
            </a:r>
          </a:p>
        </p:txBody>
      </p:sp>
      <p:cxnSp>
        <p:nvCxnSpPr>
          <p:cNvPr id="16" name="Connector 15"/>
          <p:cNvCxnSpPr>
            <a:cxnSpLocks/>
            <a:endCxn id="15" idx="0"/>
          </p:cNvCxnSpPr>
          <p:nvPr/>
        </p:nvCxnSpPr>
        <p:spPr>
          <a:xfrm>
            <a:off x="6030000" y="2088000"/>
            <a:ext cx="4446000" cy="113270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881" y="4267300"/>
            <a:ext cx="5568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55B6B"/>
                </a:solidFill>
                <a:latin typeface="Calibri"/>
              </a:rPr>
              <a:t>De to harm-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grenene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hopper over</a:t>
            </a:r>
            <a:r>
              <a:rPr lang="en-US"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lang="en-US" sz="1400" b="0" dirty="0" err="1">
                <a:solidFill>
                  <a:srgbClr val="555B6B"/>
                </a:solidFill>
                <a:latin typeface="Calibri"/>
              </a:rPr>
              <a:t>svar</a:t>
            </a:r>
            <a:r>
              <a:rPr lang="en-US"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lang="en-US" sz="1400" b="0" dirty="0" err="1">
                <a:solidFill>
                  <a:srgbClr val="555B6B"/>
                </a:solidFill>
                <a:latin typeface="Calibri"/>
              </a:rPr>
              <a:t>generer</a:t>
            </a:r>
            <a:r>
              <a:rPr lang="en-US" sz="1400" b="0" dirty="0">
                <a:solidFill>
                  <a:srgbClr val="555B6B"/>
                </a:solidFill>
                <a:latin typeface="Calibri"/>
              </a:rPr>
              <a:t> av </a:t>
            </a:r>
            <a:r>
              <a:rPr lang="en-US" sz="1400" b="0" dirty="0" err="1">
                <a:solidFill>
                  <a:srgbClr val="555B6B"/>
                </a:solidFill>
                <a:latin typeface="Calibri"/>
              </a:rPr>
              <a:t>artikler</a:t>
            </a:r>
            <a:r>
              <a:rPr lang="en-US" sz="1400" b="0" dirty="0">
                <a:solidFill>
                  <a:srgbClr val="555B6B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svaret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produseres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direkte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av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prompt,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ikke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fra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kunnskapsbasen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7501" y="4389400"/>
            <a:ext cx="5479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555B6B"/>
                </a:solidFill>
                <a:latin typeface="Calibri"/>
              </a:rPr>
              <a:t>fast_single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og orchestrator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går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videre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gjennom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retrieval → grounded answer → claim-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verifikasjon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→ </a:t>
            </a:r>
            <a:r>
              <a:rPr sz="1400" b="0" dirty="0" err="1">
                <a:solidFill>
                  <a:srgbClr val="555B6B"/>
                </a:solidFill>
                <a:latin typeface="Calibri"/>
              </a:rPr>
              <a:t>apply_response_style</a:t>
            </a:r>
            <a:r>
              <a:rPr sz="1400" b="0" dirty="0">
                <a:solidFill>
                  <a:srgbClr val="555B6B"/>
                </a:solidFill>
                <a:latin typeface="Calibri"/>
              </a:rPr>
              <a:t> → emit.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39BE18-3F1D-64F4-3083-598169E7AD06}"/>
              </a:ext>
            </a:extLst>
          </p:cNvPr>
          <p:cNvSpPr txBox="1"/>
          <p:nvPr/>
        </p:nvSpPr>
        <p:spPr>
          <a:xfrm rot="837683">
            <a:off x="7079349" y="27626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55B6B"/>
                </a:solidFill>
              </a:rPr>
              <a:t>info_seeker</a:t>
            </a:r>
            <a:r>
              <a:rPr lang="en-US" dirty="0">
                <a:solidFill>
                  <a:srgbClr val="555B6B"/>
                </a:solidFill>
              </a:rPr>
              <a:t> / </a:t>
            </a:r>
            <a:r>
              <a:rPr lang="en-US" dirty="0" err="1">
                <a:solidFill>
                  <a:srgbClr val="555B6B"/>
                </a:solidFill>
              </a:rPr>
              <a:t>affected_party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11B752-93BF-DC1C-B899-5997DF03213B}"/>
              </a:ext>
            </a:extLst>
          </p:cNvPr>
          <p:cNvSpPr txBox="1"/>
          <p:nvPr/>
        </p:nvSpPr>
        <p:spPr>
          <a:xfrm rot="2067857">
            <a:off x="6234797" y="3886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55B6B"/>
                </a:solidFill>
              </a:rPr>
              <a:t>info_seeker</a:t>
            </a:r>
            <a:r>
              <a:rPr lang="en-US" dirty="0">
                <a:solidFill>
                  <a:srgbClr val="555B6B"/>
                </a:solidFill>
              </a:rPr>
              <a:t> / </a:t>
            </a:r>
            <a:r>
              <a:rPr lang="en-US" dirty="0" err="1">
                <a:solidFill>
                  <a:srgbClr val="555B6B"/>
                </a:solidFill>
              </a:rPr>
              <a:t>affected_party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89A29B-4B05-468C-57A4-6B5C8E721F23}"/>
              </a:ext>
            </a:extLst>
          </p:cNvPr>
          <p:cNvSpPr txBox="1"/>
          <p:nvPr/>
        </p:nvSpPr>
        <p:spPr>
          <a:xfrm rot="20751942">
            <a:off x="2277262" y="1837204"/>
            <a:ext cx="656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555B6B"/>
                </a:solidFill>
                <a:latin typeface="Calibri"/>
              </a:rPr>
              <a:t>harm_to_others</a:t>
            </a:r>
            <a:r>
              <a:rPr lang="en-US" sz="1800" dirty="0">
                <a:solidFill>
                  <a:srgbClr val="555B6B"/>
                </a:solidFill>
                <a:latin typeface="Calibri"/>
              </a:rPr>
              <a:t> 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EB6B4C-CF37-3E12-407A-3938C1AE1F5D}"/>
              </a:ext>
            </a:extLst>
          </p:cNvPr>
          <p:cNvSpPr txBox="1"/>
          <p:nvPr/>
        </p:nvSpPr>
        <p:spPr>
          <a:xfrm rot="19254769">
            <a:off x="3675463" y="955577"/>
            <a:ext cx="656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555B6B"/>
                </a:solidFill>
                <a:latin typeface="Calibri"/>
              </a:rPr>
              <a:t>harm_to_others</a:t>
            </a:r>
            <a:r>
              <a:rPr lang="en-US" sz="1800" dirty="0">
                <a:solidFill>
                  <a:srgbClr val="555B6B"/>
                </a:solidFill>
                <a:latin typeface="Calibri"/>
              </a:rPr>
              <a:t>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DB996D-7B69-AB26-0660-1E8DDBD5FCE2}"/>
              </a:ext>
            </a:extLst>
          </p:cNvPr>
          <p:cNvSpPr txBox="1"/>
          <p:nvPr/>
        </p:nvSpPr>
        <p:spPr>
          <a:xfrm>
            <a:off x="10464000" y="2973545"/>
            <a:ext cx="179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Flere</a:t>
            </a:r>
            <a:r>
              <a:rPr lang="en-US" sz="1100" dirty="0"/>
              <a:t> </a:t>
            </a:r>
            <a:r>
              <a:rPr lang="en-US" sz="1100" dirty="0" err="1"/>
              <a:t>spørsmål</a:t>
            </a:r>
            <a:endParaRPr 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ECBC58-C97F-D832-3A1F-6C93C3211570}"/>
              </a:ext>
            </a:extLst>
          </p:cNvPr>
          <p:cNvSpPr txBox="1"/>
          <p:nvPr/>
        </p:nvSpPr>
        <p:spPr>
          <a:xfrm>
            <a:off x="8210330" y="2991394"/>
            <a:ext cx="179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Ett </a:t>
            </a:r>
            <a:r>
              <a:rPr lang="en-US" sz="1100" dirty="0" err="1"/>
              <a:t>spørsmål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Calibri"/>
              </a:rPr>
              <a:t>Hva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analyze_query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kartlegger</a:t>
            </a:r>
            <a:endParaRPr sz="2600" b="1" dirty="0">
              <a:solidFill>
                <a:srgbClr val="FFFFFF"/>
              </a:solidFill>
              <a:latin typeface="Calibri"/>
            </a:endParaRPr>
          </a:p>
          <a:p>
            <a:r>
              <a:rPr sz="1400" dirty="0">
                <a:solidFill>
                  <a:srgbClr val="E2E7F1"/>
                </a:solidFill>
                <a:latin typeface="Calibri"/>
              </a:rPr>
              <a:t>Ett LLM-</a:t>
            </a:r>
            <a:r>
              <a:rPr sz="1400" dirty="0" err="1">
                <a:solidFill>
                  <a:srgbClr val="E2E7F1"/>
                </a:solidFill>
                <a:latin typeface="Calibri"/>
              </a:rPr>
              <a:t>kall</a:t>
            </a:r>
            <a:r>
              <a:rPr sz="1400" dirty="0">
                <a:solidFill>
                  <a:srgbClr val="E2E7F1"/>
                </a:solidFill>
                <a:latin typeface="Calibri"/>
              </a:rPr>
              <a:t> per </a:t>
            </a:r>
            <a:r>
              <a:rPr sz="1400" dirty="0" err="1">
                <a:solidFill>
                  <a:srgbClr val="E2E7F1"/>
                </a:solidFill>
                <a:latin typeface="Calibri"/>
              </a:rPr>
              <a:t>spørsmål</a:t>
            </a:r>
            <a:r>
              <a:rPr sz="1400" dirty="0">
                <a:solidFill>
                  <a:srgbClr val="E2E7F1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E2E7F1"/>
                </a:solidFill>
                <a:latin typeface="Calibri"/>
              </a:rPr>
              <a:t>produserer</a:t>
            </a:r>
            <a:r>
              <a:rPr sz="1400" dirty="0">
                <a:solidFill>
                  <a:srgbClr val="E2E7F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E2E7F1"/>
                </a:solidFill>
                <a:latin typeface="Calibri"/>
              </a:rPr>
              <a:t>QueryPlan-objekt</a:t>
            </a:r>
            <a:endParaRPr sz="1400" dirty="0">
              <a:solidFill>
                <a:srgbClr val="E2E7F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144000" cy="827999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000" y="1350000"/>
            <a:ext cx="10572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12C4E"/>
                </a:solidFill>
                <a:latin typeface="Calibri"/>
              </a:rPr>
              <a:t>1. </a:t>
            </a:r>
            <a:r>
              <a:rPr sz="1600" b="1" dirty="0" err="1">
                <a:solidFill>
                  <a:srgbClr val="212C4E"/>
                </a:solidFill>
                <a:latin typeface="Calibri"/>
              </a:rPr>
              <a:t>refined_query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Rensket</a:t>
            </a:r>
            <a:r>
              <a:rPr lang="en-US" sz="1600" dirty="0">
                <a:solidFill>
                  <a:srgbClr val="555B6B"/>
                </a:solidFill>
              </a:rPr>
              <a:t>, </a:t>
            </a:r>
            <a:r>
              <a:rPr lang="en-US" sz="1600" dirty="0" err="1">
                <a:solidFill>
                  <a:srgbClr val="555B6B"/>
                </a:solidFill>
              </a:rPr>
              <a:t>søkbar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versjon</a:t>
            </a:r>
            <a:r>
              <a:rPr lang="en-US" sz="1600" dirty="0">
                <a:solidFill>
                  <a:srgbClr val="555B6B"/>
                </a:solidFill>
              </a:rPr>
              <a:t> av </a:t>
            </a:r>
            <a:r>
              <a:rPr lang="en-US" sz="1600" dirty="0" err="1">
                <a:solidFill>
                  <a:srgbClr val="555B6B"/>
                </a:solidFill>
              </a:rPr>
              <a:t>spørsmålet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på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bokmål</a:t>
            </a:r>
            <a:r>
              <a:rPr lang="en-US" sz="1600" dirty="0">
                <a:solidFill>
                  <a:srgbClr val="555B6B"/>
                </a:solidFill>
              </a:rPr>
              <a:t>.</a:t>
            </a:r>
          </a:p>
          <a:p>
            <a:endParaRPr sz="1600" b="1" dirty="0">
              <a:solidFill>
                <a:srgbClr val="212C4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0000" y="2196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0000" y="2196000"/>
            <a:ext cx="144000" cy="827999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000" y="2286000"/>
            <a:ext cx="10572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12C4E"/>
                </a:solidFill>
                <a:latin typeface="Calibri"/>
              </a:rPr>
              <a:t>2. </a:t>
            </a:r>
            <a:r>
              <a:rPr sz="1600" b="1" dirty="0" err="1">
                <a:solidFill>
                  <a:srgbClr val="212C4E"/>
                </a:solidFill>
                <a:latin typeface="Calibri"/>
              </a:rPr>
              <a:t>needs_subqueries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555B6B"/>
                </a:solidFill>
              </a:rPr>
              <a:t>Skal </a:t>
            </a:r>
            <a:r>
              <a:rPr lang="en-US" sz="1600" dirty="0" err="1">
                <a:solidFill>
                  <a:srgbClr val="555B6B"/>
                </a:solidFill>
              </a:rPr>
              <a:t>spørsmålet</a:t>
            </a:r>
            <a:r>
              <a:rPr lang="en-US" sz="1600" dirty="0">
                <a:solidFill>
                  <a:srgbClr val="555B6B"/>
                </a:solidFill>
              </a:rPr>
              <a:t> deles </a:t>
            </a:r>
            <a:r>
              <a:rPr lang="en-US" sz="1600" dirty="0" err="1">
                <a:solidFill>
                  <a:srgbClr val="555B6B"/>
                </a:solidFill>
              </a:rPr>
              <a:t>i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delspørsmål</a:t>
            </a:r>
            <a:r>
              <a:rPr lang="en-US" sz="1600" dirty="0">
                <a:solidFill>
                  <a:srgbClr val="555B6B"/>
                </a:solidFill>
              </a:rPr>
              <a:t> for å </a:t>
            </a:r>
            <a:r>
              <a:rPr lang="en-US" sz="1600" dirty="0" err="1">
                <a:solidFill>
                  <a:srgbClr val="555B6B"/>
                </a:solidFill>
              </a:rPr>
              <a:t>besvares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godt</a:t>
            </a:r>
            <a:r>
              <a:rPr lang="en-US" sz="1600" dirty="0">
                <a:solidFill>
                  <a:srgbClr val="555B6B"/>
                </a:solidFill>
              </a:rPr>
              <a:t>? </a:t>
            </a:r>
            <a:endParaRPr sz="1600" b="1" dirty="0">
              <a:solidFill>
                <a:srgbClr val="212C4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0000" y="3132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0000" y="3132000"/>
            <a:ext cx="144000" cy="827999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000" y="3222000"/>
            <a:ext cx="1057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12C4E"/>
                </a:solidFill>
                <a:latin typeface="Calibri"/>
              </a:rPr>
              <a:t>3. </a:t>
            </a:r>
            <a:r>
              <a:rPr sz="1600" b="1" dirty="0" err="1">
                <a:solidFill>
                  <a:srgbClr val="212C4E"/>
                </a:solidFill>
                <a:latin typeface="Calibri"/>
              </a:rPr>
              <a:t>query_severity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hvor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akutt</a:t>
            </a:r>
            <a:r>
              <a:rPr lang="en-US" sz="1600" dirty="0">
                <a:solidFill>
                  <a:srgbClr val="555B6B"/>
                </a:solidFill>
              </a:rPr>
              <a:t> er </a:t>
            </a:r>
            <a:r>
              <a:rPr lang="en-US" sz="1600" dirty="0" err="1">
                <a:solidFill>
                  <a:srgbClr val="555B6B"/>
                </a:solidFill>
              </a:rPr>
              <a:t>situasjonen</a:t>
            </a:r>
            <a:r>
              <a:rPr lang="en-US" sz="1600" dirty="0">
                <a:solidFill>
                  <a:srgbClr val="555B6B"/>
                </a:solidFill>
              </a:rPr>
              <a:t>?</a:t>
            </a:r>
            <a:endParaRPr sz="1600" b="1" dirty="0">
              <a:solidFill>
                <a:srgbClr val="212C4E"/>
              </a:solidFill>
              <a:latin typeface="Calibri"/>
            </a:endParaRPr>
          </a:p>
          <a:p>
            <a:r>
              <a:rPr sz="1200" dirty="0">
                <a:solidFill>
                  <a:srgbClr val="555B6B"/>
                </a:solidFill>
                <a:latin typeface="Calibri"/>
              </a:rPr>
              <a:t>Green / Yellow / 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068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0000" y="4068000"/>
            <a:ext cx="144000" cy="827999"/>
          </a:xfrm>
          <a:prstGeom prst="round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000" y="4158000"/>
            <a:ext cx="1057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12C4E"/>
                </a:solidFill>
                <a:latin typeface="Calibri"/>
              </a:rPr>
              <a:t>4. 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S</a:t>
            </a:r>
            <a:r>
              <a:rPr sz="1600" b="1" dirty="0">
                <a:solidFill>
                  <a:srgbClr val="212C4E"/>
                </a:solidFill>
                <a:latin typeface="Calibri"/>
              </a:rPr>
              <a:t>tance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hvilken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rolle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har</a:t>
            </a:r>
            <a:r>
              <a:rPr lang="en-US" sz="1600" dirty="0">
                <a:solidFill>
                  <a:srgbClr val="555B6B"/>
                </a:solidFill>
              </a:rPr>
              <a:t> </a:t>
            </a:r>
            <a:r>
              <a:rPr lang="en-US" sz="1600" dirty="0" err="1">
                <a:solidFill>
                  <a:srgbClr val="555B6B"/>
                </a:solidFill>
              </a:rPr>
              <a:t>brukeren</a:t>
            </a:r>
            <a:r>
              <a:rPr lang="en-US" sz="1600" dirty="0">
                <a:solidFill>
                  <a:srgbClr val="555B6B"/>
                </a:solidFill>
              </a:rPr>
              <a:t>?</a:t>
            </a:r>
            <a:endParaRPr sz="1600" b="1" dirty="0">
              <a:solidFill>
                <a:srgbClr val="212C4E"/>
              </a:solidFill>
              <a:latin typeface="Calibri"/>
            </a:endParaRPr>
          </a:p>
          <a:p>
            <a:r>
              <a:rPr sz="1200" dirty="0" err="1">
                <a:solidFill>
                  <a:srgbClr val="555B6B"/>
                </a:solidFill>
                <a:latin typeface="Calibri"/>
              </a:rPr>
              <a:t>info_seeker</a:t>
            </a:r>
            <a:r>
              <a:rPr sz="1200" dirty="0">
                <a:solidFill>
                  <a:srgbClr val="555B6B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555B6B"/>
                </a:solidFill>
                <a:latin typeface="Calibri"/>
              </a:rPr>
              <a:t>affected_party</a:t>
            </a:r>
            <a:r>
              <a:rPr sz="1200" dirty="0">
                <a:solidFill>
                  <a:srgbClr val="555B6B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555B6B"/>
                </a:solidFill>
                <a:latin typeface="Calibri"/>
              </a:rPr>
              <a:t>harm_to_others</a:t>
            </a:r>
            <a:r>
              <a:rPr sz="1200" dirty="0">
                <a:solidFill>
                  <a:srgbClr val="555B6B"/>
                </a:solidFill>
                <a:latin typeface="Calibri"/>
              </a:rPr>
              <a:t> / ambiguous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5004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0000" y="5004000"/>
            <a:ext cx="144000" cy="827999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000" y="5094000"/>
            <a:ext cx="1057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12C4E"/>
                </a:solidFill>
                <a:latin typeface="Calibri"/>
              </a:rPr>
              <a:t>5. </a:t>
            </a:r>
            <a:r>
              <a:rPr sz="1600" b="1" dirty="0" err="1">
                <a:solidFill>
                  <a:srgbClr val="212C4E"/>
                </a:solidFill>
                <a:latin typeface="Calibri"/>
              </a:rPr>
              <a:t>harm_to_others_tense</a:t>
            </a:r>
            <a:r>
              <a:rPr lang="en-US" sz="16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555B6B"/>
                </a:solidFill>
              </a:rPr>
              <a:t>bare relevant </a:t>
            </a:r>
            <a:r>
              <a:rPr lang="en-US" sz="1600" dirty="0" err="1">
                <a:solidFill>
                  <a:srgbClr val="555B6B"/>
                </a:solidFill>
              </a:rPr>
              <a:t>når</a:t>
            </a:r>
            <a:r>
              <a:rPr lang="en-US" sz="1600" dirty="0">
                <a:solidFill>
                  <a:srgbClr val="555B6B"/>
                </a:solidFill>
              </a:rPr>
              <a:t> stance=</a:t>
            </a:r>
            <a:r>
              <a:rPr lang="en-US" sz="1600" dirty="0" err="1">
                <a:solidFill>
                  <a:srgbClr val="555B6B"/>
                </a:solidFill>
              </a:rPr>
              <a:t>harm_to_others</a:t>
            </a:r>
            <a:r>
              <a:rPr lang="en-US" sz="1600" dirty="0">
                <a:solidFill>
                  <a:srgbClr val="555B6B"/>
                </a:solidFill>
              </a:rPr>
              <a:t>.</a:t>
            </a:r>
            <a:endParaRPr sz="1600" b="1" dirty="0">
              <a:solidFill>
                <a:srgbClr val="212C4E"/>
              </a:solidFill>
              <a:latin typeface="Calibri"/>
            </a:endParaRPr>
          </a:p>
          <a:p>
            <a:r>
              <a:rPr sz="1200" dirty="0">
                <a:solidFill>
                  <a:srgbClr val="555B6B"/>
                </a:solidFill>
                <a:latin typeface="Calibri"/>
              </a:rPr>
              <a:t>planning / completed / unclear / </a:t>
            </a:r>
            <a:r>
              <a:rPr sz="1200" dirty="0" err="1">
                <a:solidFill>
                  <a:srgbClr val="555B6B"/>
                </a:solidFill>
                <a:latin typeface="Calibri"/>
              </a:rPr>
              <a:t>na</a:t>
            </a:r>
            <a:endParaRPr sz="1200" dirty="0">
              <a:solidFill>
                <a:srgbClr val="555B6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Alvorlighetsgrad (query_severity)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Bestemmer tone, relaterte spørsmål og fallback-tekst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440000"/>
            <a:ext cx="1260000" cy="936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151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Forebyggende, generell info. Trygt og rolig.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«Hvordan virker p-piller?», «Hva er samtykke?»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520000"/>
            <a:ext cx="1260000" cy="936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259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Sårbar situasjon, vanskelige følelser, ikke akutt.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«Jeg angrer på at jeg sendte et nakenbilde.»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600000"/>
            <a:ext cx="1260000" cy="936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367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Akutt krise — voldsom risiko, overgrep, selvskading.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«Jeg ble voldtatt i går», «Jeg klarer ikke mer.»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5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B6B"/>
                </a:solidFill>
                <a:latin typeface="Calibri"/>
              </a:rPr>
              <a:t>Severity-Red overstyrer alle response_style-valg og tvinger «crisis»-tonen (safety floor).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Stance — hvem er aktøren, hvem er målet?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Separat akse fra alvorlighetsgrad; avgjør om svaret skal rutes til sikkerhetsnodene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144000" cy="2088000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68C6"/>
                </a:solidFill>
                <a:latin typeface="Calibri"/>
              </a:rPr>
              <a:t>info_seeker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Ber om generell kunnskap. Ingen konkret aktør.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«Hva sier loven om deling av nakenbilder?»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26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0000" y="1260000"/>
            <a:ext cx="144000" cy="2088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4000" y="136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99A18"/>
                </a:solidFill>
                <a:latin typeface="Calibri"/>
              </a:rPr>
              <a:t>affected_party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Brukeren beskriver noe som rammer hen selv (offer, presset, redd).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«Eksen min truer med å dele nakenbilder av meg.»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0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0000" y="3600000"/>
            <a:ext cx="144000" cy="2088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000" y="370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13A3A"/>
                </a:solidFill>
                <a:latin typeface="Calibri"/>
              </a:rPr>
              <a:t>harm_to_others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Brukeren spør om å gjøre noe ulovlig/skadelig MOT en annen.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«Jeg vil dele nakenbilder av eksen min, hvordan?»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60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0000" y="3600000"/>
            <a:ext cx="144000" cy="2088000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4000" y="370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55B6B"/>
                </a:solidFill>
                <a:latin typeface="Calibri"/>
              </a:rPr>
              <a:t>ambiguous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Uklart hvem som er aktør og hvem som er mål.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«Det ble delt bilder, hva gjør jeg?»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harm_to_others_tense — bare når stance = harm_to_others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Tempus bestemmer om svaret blir et avslag eller skadebegrensning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332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1332000"/>
            <a:ext cx="144000" cy="2088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13A3A"/>
                </a:solidFill>
                <a:latin typeface="Calibri"/>
              </a:rPr>
              <a:t>planning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Bruker vurderer/planlegger handlingen. Verb peker fremover: «vil», «skal», «hvordan kan jeg».</a:t>
            </a:r>
          </a:p>
          <a:p>
            <a:r>
              <a:rPr sz="1300" b="1">
                <a:solidFill>
                  <a:srgbClr val="B13A3A"/>
                </a:solidFill>
                <a:latin typeface="Calibri"/>
              </a:rPr>
              <a:t>→ refuse_harm_to_others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«jeg vil spre nakenbilder av eksen»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332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0000" y="1332000"/>
            <a:ext cx="144000" cy="2088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4000" y="1440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8B57"/>
                </a:solidFill>
                <a:latin typeface="Calibri"/>
              </a:rPr>
              <a:t>completed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Handlingen er allerede gjort. Verb i fortid/perfektum: «har sendt», «delte», «filmet».</a:t>
            </a:r>
          </a:p>
          <a:p>
            <a:r>
              <a:rPr sz="1300" b="1">
                <a:solidFill>
                  <a:srgbClr val="2E8B57"/>
                </a:solidFill>
                <a:latin typeface="Calibri"/>
              </a:rPr>
              <a:t>→ help_after_harm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«jeg har delt nakenbilder av eksen, hva nå?»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708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0000" y="3708000"/>
            <a:ext cx="144000" cy="2088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000" y="3816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99A18"/>
                </a:solidFill>
                <a:latin typeface="Calibri"/>
              </a:rPr>
              <a:t>unclear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Tvetydig — bruker «har bildene» men ikke klart om handlingen er utført.</a:t>
            </a:r>
          </a:p>
          <a:p>
            <a:r>
              <a:rPr sz="1300" b="1">
                <a:solidFill>
                  <a:srgbClr val="C99A18"/>
                </a:solidFill>
                <a:latin typeface="Calibri"/>
              </a:rPr>
              <a:t>→ refuse_harm_to_others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«har nakenbilder og vurderer å dele dem»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708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0000" y="3708000"/>
            <a:ext cx="144000" cy="2088000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4000" y="3816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55B6B"/>
                </a:solidFill>
                <a:latin typeface="Calibri"/>
              </a:rPr>
              <a:t>na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Stance er ikke harm_to_others. Ingen sikkerhetsrute.</a:t>
            </a:r>
          </a:p>
          <a:p>
            <a:r>
              <a:rPr sz="1300" b="1">
                <a:solidFill>
                  <a:srgbClr val="555B6B"/>
                </a:solidFill>
                <a:latin typeface="Calibri"/>
              </a:rPr>
              <a:t>→ normal flyt (fast_single/orchestrator)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Eksempler på klassifisering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Samme tema, ulik stance og tense — helt ulikt svar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332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1332000"/>
            <a:ext cx="144000" cy="1080000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000" y="1422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«Hva sier loven om deling av nakenbilder?»</a:t>
            </a:r>
          </a:p>
          <a:p>
            <a:r>
              <a:rPr sz="1200" b="1">
                <a:solidFill>
                  <a:srgbClr val="3368C6"/>
                </a:solidFill>
                <a:latin typeface="Consolas"/>
              </a:rPr>
              <a:t>info_seeker · na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Normal flyt: retrieval + grounded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484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0000" y="2484000"/>
            <a:ext cx="144000" cy="1080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000" y="2574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«Eksen min truer med å dele nakenbilder av meg»</a:t>
            </a:r>
          </a:p>
          <a:p>
            <a:r>
              <a:rPr sz="1200" b="1">
                <a:solidFill>
                  <a:srgbClr val="C99A18"/>
                </a:solidFill>
                <a:latin typeface="Consolas"/>
              </a:rPr>
              <a:t>affected_party · na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Normal flyt, men supportive style: validering +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36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0000" y="3636000"/>
            <a:ext cx="144000" cy="1080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000" y="3726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«Jeg vil dele nakenbilder av eksen, hvordan?»</a:t>
            </a:r>
          </a:p>
          <a:p>
            <a:r>
              <a:rPr sz="1200" b="1">
                <a:solidFill>
                  <a:srgbClr val="B13A3A"/>
                </a:solidFill>
                <a:latin typeface="Consolas"/>
              </a:rPr>
              <a:t>harm_to_others · planning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→ refuse_harm_to_others: avslag + ressurser, ingen «hvordan».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788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0000" y="4788000"/>
            <a:ext cx="144000" cy="108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000" y="4878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«Jeg har delt nakenbilder av eksen, hva nå?»</a:t>
            </a:r>
          </a:p>
          <a:p>
            <a:r>
              <a:rPr sz="1200" b="1">
                <a:solidFill>
                  <a:srgbClr val="2E8B57"/>
                </a:solidFill>
                <a:latin typeface="Consolas"/>
              </a:rPr>
              <a:t>harm_to_others · completed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→ help_after_harm: skadebegrensning, voksne, politi, Slettmeg.no.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refuse_harm_to_others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Konstruktivt avslag når brukeren planlegger (eller vurderer) å skade en annen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576000"/>
          </a:xfrm>
          <a:prstGeom prst="roundRect">
            <a:avLst/>
          </a:prstGeom>
          <a:solidFill>
            <a:srgbClr val="FC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332000"/>
            <a:ext cx="1075211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13A3A"/>
                </a:solidFill>
                <a:latin typeface="Calibri"/>
              </a:rPr>
              <a:t>Trigger: </a:t>
            </a:r>
            <a:r>
              <a:rPr sz="1400">
                <a:solidFill>
                  <a:srgbClr val="212C4E"/>
                </a:solidFill>
                <a:latin typeface="Consolas"/>
              </a:rPr>
              <a:t>stance = harm_to_others   OG   tense ∈ {planning, unclear}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44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C4E"/>
                </a:solidFill>
                <a:latin typeface="Calibri"/>
              </a:rPr>
              <a:t>Hva noden gjør (LLM-drevet via REFUSE_HARM_PROMPT):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1" y="2304000"/>
            <a:ext cx="502895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12C4E"/>
                </a:solidFill>
                <a:latin typeface="Calibri"/>
              </a:rPr>
              <a:t>1. Anerkjenner følelsen </a:t>
            </a:r>
            <a:r>
              <a:rPr sz="1300">
                <a:solidFill>
                  <a:srgbClr val="212C4E"/>
                </a:solidFill>
                <a:latin typeface="Calibri"/>
              </a:rPr>
              <a:t>kort (sårhet, sinne, sjalusi, hevn) — uten å moralisere.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12C4E"/>
                </a:solidFill>
                <a:latin typeface="Calibri"/>
              </a:rPr>
              <a:t>2. Sier tydelig fra </a:t>
            </a:r>
            <a:r>
              <a:rPr sz="1300">
                <a:solidFill>
                  <a:srgbClr val="212C4E"/>
                </a:solidFill>
                <a:latin typeface="Calibri"/>
              </a:rPr>
              <a:t>om at handlingen er ulovlig eller alvorlig skadelig. Refererer norsk straffelov når mulig (§267a deling av nakenbilder, §282 mishandling, §263/266 trusler, §297–299 overgrep, §305 grooming, §145 stalkerware…).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12C4E"/>
                </a:solidFill>
                <a:latin typeface="Calibri"/>
              </a:rPr>
              <a:t>3. ALDRI beskriver hvordan </a:t>
            </a:r>
            <a:r>
              <a:rPr sz="1300">
                <a:solidFill>
                  <a:srgbClr val="212C4E"/>
                </a:solidFill>
                <a:latin typeface="Calibri"/>
              </a:rPr>
              <a:t>handlingen kan utføres. Ingen verktøy, apper eller metoder — ikke engang som «advarsel».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12C4E"/>
                </a:solidFill>
                <a:latin typeface="Calibri"/>
              </a:rPr>
              <a:t>4. Avslutter med 2–3 ressurser </a:t>
            </a:r>
            <a:r>
              <a:rPr sz="1300">
                <a:solidFill>
                  <a:srgbClr val="212C4E"/>
                </a:solidFill>
                <a:latin typeface="Calibri"/>
              </a:rPr>
              <a:t>tilpasset situasjonen: Mental Helse Ungdom (116 123), Kors på halsen (16 111), Slettmeg.no, politiet, Sex og samfunn, en voksen man stoler på.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12C4E"/>
                </a:solidFill>
                <a:latin typeface="Calibri"/>
              </a:rPr>
              <a:t>Statisk fallback </a:t>
            </a:r>
            <a:r>
              <a:rPr sz="1300">
                <a:solidFill>
                  <a:srgbClr val="212C4E"/>
                </a:solidFill>
                <a:latin typeface="Calibri"/>
              </a:rPr>
              <a:t>(HARM_REFUSAL_ANSWER) brukes hvis LLM-kallet feiler — generisk og dekker alle harm-kategorier.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0DA35E-A8CA-3A1E-0BF6-63335CB09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83" y="1836000"/>
            <a:ext cx="4715533" cy="4772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A7BE08-042B-7DA0-40D0-AA0C4BE64A50}"/>
              </a:ext>
            </a:extLst>
          </p:cNvPr>
          <p:cNvSpPr txBox="1"/>
          <p:nvPr/>
        </p:nvSpPr>
        <p:spPr>
          <a:xfrm>
            <a:off x="6806177" y="1759334"/>
            <a:ext cx="151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Eksempel: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F7C217-BC14-18E5-5215-351CF1FD4792}"/>
              </a:ext>
            </a:extLst>
          </p:cNvPr>
          <p:cNvSpPr txBox="1"/>
          <p:nvPr/>
        </p:nvSpPr>
        <p:spPr>
          <a:xfrm>
            <a:off x="622300" y="573576"/>
            <a:ext cx="10267950" cy="601703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 er en varm og direkte rådgiver for ungdom i Norge (13-19 år).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Brukerens spørsmål indikerer at hen vurderer eller planlegger å gjøre noe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 er ulovlig eller åpenbart skadelig mot en annen person. Din oppgave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 å avvise å gi praktiske råd om handlingen, og samtidig hjelpe brukeren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med det som ligger bak.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 SKAL: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1) ANERKJENNE FØLELSEN som kan ligge bak, kort og uten å være patroniserende.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Følelser som kan drive sånne spørsmål: sårhet etter brudd, sinne, sjalusi,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ydmykelse, behov for kontroll, ensomhet, hevnlyst. Ikke moraliser. Ikke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bruk fraser som "det er forståelig at du føler...".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2) SI TYDELIG at handlingen som beskrives er ulovlig eller alvorlig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skadelig. Hvis du kan referere norsk straffelov presist, gjør det.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Relevante paragrafer: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§267a deling av seksuelle bilder uten samtykke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§282 mishandling i nære relasjoner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§263/266 trusler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§297-299 seksuell handling/overgrep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§305 </a:t>
            </a:r>
            <a:r>
              <a:rPr lang="nb-NO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grooming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§312 incest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§202 hallikvirksomhet/utnyttelse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§145 brudd på datafred (overvåking, </a:t>
            </a:r>
            <a:r>
              <a:rPr lang="nb-NO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stalkerware</a:t>
            </a: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- Personopplysningsloven for skjult opptak/overvåking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Hvis du ikke er sikker på paragraf, beskriv kort hvorfor handlingen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er ulovlig eller alvorlig skadelig.</a:t>
            </a: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b-NO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							      </a:t>
            </a: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3) ALDRI beskrive hvordan handlingen kan utføres, og ALDRI gi praktiske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råd til å gjennomføre den – selv ikke som "advarsler". Ikke nevn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konkrete verktøy, apper, metoder eller fremgangsmåter, ikke engang for å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advare mot dem.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4) AVSLUTT MED 2-3 KONKRETE RESSURSER. Velg de som passer situasjonen: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**Mental Helse Ungdom**: chat og telefon **116 123**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**Kors på halsen** (Røde Kors): **16 111** eller chat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**[Slettmeg.no](https://slettmeg.no)** for bilder/personvern på nett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Politiet: **02800** (ikke-akutt) eller **112** (akutt fare)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**Sex og samfunn** – kvalifisert helsepersonell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- En voksen du stoler på (foreldre, lærer, helsesykepleier)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FORMAT: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Norsk bokmål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</a:t>
            </a:r>
            <a:r>
              <a:rPr lang="nb-NO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Markdown</a:t>
            </a: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: punktliste for ressurser, **fet tekst** på 1-3 nøkkelord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Hold svaret kort: 4-7 setninger pluss ressurslisten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Ikke spør brukeren om mer informasjon, ikke be om avklaring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Ikke bruk fraser som "som rådgiver", "ifølge norsk lov" – snakk direkte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KONTEKST OM TENSE: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"planning"  : Brukeren vurderer eller planlegger handlingen aktivt.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             Bruk formuleringer som peker fremover: "før du gjør noe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             du kan angre på", "det er ikke for sent å velge noe annet".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- "</a:t>
            </a:r>
            <a:r>
              <a:rPr lang="nb-NO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unclear</a:t>
            </a: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"   : Tvetydig om brukeren planlegger eller bare lurer. Behandle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nb-NO" sz="900" dirty="0">
                <a:solidFill>
                  <a:srgbClr val="A31515"/>
                </a:solidFill>
                <a:latin typeface="Consolas" panose="020B0609020204030204" pitchFamily="49" charset="0"/>
              </a:rPr>
              <a:t>                som planning, men kan være litt mer åpen i tonen.</a:t>
            </a: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nb-NO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nb-NO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nb-NO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85FE7-BD0B-0B63-4150-1F003C661BCD}"/>
              </a:ext>
            </a:extLst>
          </p:cNvPr>
          <p:cNvSpPr txBox="1"/>
          <p:nvPr/>
        </p:nvSpPr>
        <p:spPr>
          <a:xfrm>
            <a:off x="609600" y="158750"/>
            <a:ext cx="292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PROMPTEN</a:t>
            </a:r>
          </a:p>
        </p:txBody>
      </p:sp>
    </p:spTree>
    <p:extLst>
      <p:ext uri="{BB962C8B-B14F-4D97-AF65-F5344CB8AC3E}">
        <p14:creationId xmlns:p14="http://schemas.microsoft.com/office/powerpoint/2010/main" val="3128798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help_after_harm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Skadebegrensning når brukeren AVSLØRER at hen allerede har gjort noe som har skadet en annen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576000"/>
          </a:xfrm>
          <a:prstGeom prst="roundRect">
            <a:avLst/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332000"/>
            <a:ext cx="1075211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B57"/>
                </a:solidFill>
                <a:latin typeface="Calibri"/>
              </a:rPr>
              <a:t>Trigger: </a:t>
            </a:r>
            <a:r>
              <a:rPr sz="1400">
                <a:solidFill>
                  <a:srgbClr val="212C4E"/>
                </a:solidFill>
                <a:latin typeface="Consolas"/>
              </a:rPr>
              <a:t>stance = harm_to_others   OG   tense =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44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C4E"/>
                </a:solidFill>
                <a:latin typeface="Calibri"/>
              </a:rPr>
              <a:t>Hva noden gjør (LLM-drevet via HELP_AFTER_HARM_PROMPT):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1" y="2304000"/>
            <a:ext cx="582905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>
                <a:solidFill>
                  <a:srgbClr val="212C4E"/>
                </a:solidFill>
                <a:latin typeface="Calibri"/>
              </a:rPr>
              <a:t>Ikke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avvisning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Skaden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er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gjort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; et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kaldt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nei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hjelper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ingen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Anerkjenner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at det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krever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mot å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rekke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ut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etter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å ha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gjort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noe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vanskelig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>
                <a:solidFill>
                  <a:srgbClr val="212C4E"/>
                </a:solidFill>
                <a:latin typeface="Calibri"/>
              </a:rPr>
              <a:t>Sier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tydelig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fra </a:t>
            </a:r>
            <a:r>
              <a:rPr sz="1300" dirty="0">
                <a:solidFill>
                  <a:srgbClr val="212C4E"/>
                </a:solidFill>
                <a:latin typeface="Calibri"/>
              </a:rPr>
              <a:t>om at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handlingen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er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alvorlig</a:t>
            </a:r>
            <a:r>
              <a:rPr sz="1300" dirty="0">
                <a:solidFill>
                  <a:srgbClr val="212C4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refererer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paragraf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hvis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mulig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— men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ikke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for å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straffe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brukeren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Realistisk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bilde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av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konsekvenser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ikke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løfter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om at det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blir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greit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 err="1">
                <a:solidFill>
                  <a:srgbClr val="212C4E"/>
                </a:solidFill>
                <a:latin typeface="Calibri"/>
              </a:rPr>
              <a:t>Stoppe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videre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skade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først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: </a:t>
            </a:r>
            <a:r>
              <a:rPr sz="1300" dirty="0">
                <a:solidFill>
                  <a:srgbClr val="212C4E"/>
                </a:solidFill>
                <a:latin typeface="Calibri"/>
              </a:rPr>
              <a:t>Slettmeg.no for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spredte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bilder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/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informasjon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Slett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selv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også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 err="1">
                <a:solidFill>
                  <a:srgbClr val="212C4E"/>
                </a:solidFill>
                <a:latin typeface="Calibri"/>
              </a:rPr>
              <a:t>Snakk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med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voksen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>
                <a:solidFill>
                  <a:srgbClr val="212C4E"/>
                </a:solidFill>
                <a:latin typeface="Calibri"/>
              </a:rPr>
              <a:t>(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foreldre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helsesykepleier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lærer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)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så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raskt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som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mulig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 err="1">
                <a:solidFill>
                  <a:srgbClr val="212C4E"/>
                </a:solidFill>
                <a:latin typeface="Calibri"/>
              </a:rPr>
              <a:t>Vurder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politi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/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advokat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selv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>
                <a:solidFill>
                  <a:srgbClr val="212C4E"/>
                </a:solidFill>
                <a:latin typeface="Calibri"/>
              </a:rPr>
              <a:t>Å ta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initiativ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blir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ofte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sett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som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formildende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>
                <a:solidFill>
                  <a:srgbClr val="212C4E"/>
                </a:solidFill>
                <a:latin typeface="Calibri"/>
              </a:rPr>
              <a:t>Tenk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på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den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som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er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rammet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Begrens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skaden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beklage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direkte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eller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via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voksen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sz="1300" b="1" dirty="0" err="1">
                <a:solidFill>
                  <a:srgbClr val="212C4E"/>
                </a:solidFill>
                <a:latin typeface="Calibri"/>
              </a:rPr>
              <a:t>Få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hjelp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12C4E"/>
                </a:solidFill>
                <a:latin typeface="Calibri"/>
              </a:rPr>
              <a:t>selv</a:t>
            </a:r>
            <a:r>
              <a:rPr sz="1300" b="1" dirty="0">
                <a:solidFill>
                  <a:srgbClr val="212C4E"/>
                </a:solidFill>
                <a:latin typeface="Calibri"/>
              </a:rPr>
              <a:t>. </a:t>
            </a:r>
            <a:r>
              <a:rPr sz="1300" dirty="0">
                <a:solidFill>
                  <a:srgbClr val="212C4E"/>
                </a:solidFill>
                <a:latin typeface="Calibri"/>
              </a:rPr>
              <a:t>Mental Helse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Ungdom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116 123, Kors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på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C4E"/>
                </a:solidFill>
                <a:latin typeface="Calibri"/>
              </a:rPr>
              <a:t>halsen</a:t>
            </a:r>
            <a:r>
              <a:rPr sz="1300" dirty="0">
                <a:solidFill>
                  <a:srgbClr val="212C4E"/>
                </a:solidFill>
                <a:latin typeface="Calibri"/>
              </a:rPr>
              <a:t> 16 111.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2641A1-B9EB-CAB2-AA9B-32CA02553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077" y="2118039"/>
            <a:ext cx="4242823" cy="4739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571EC7-5C54-0121-5CD4-99F038AC67EC}"/>
              </a:ext>
            </a:extLst>
          </p:cNvPr>
          <p:cNvSpPr txBox="1"/>
          <p:nvPr/>
        </p:nvSpPr>
        <p:spPr>
          <a:xfrm>
            <a:off x="7014954" y="1741334"/>
            <a:ext cx="151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Eksempel: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07631-CB51-FB1B-C942-E522A435AC5D}"/>
              </a:ext>
            </a:extLst>
          </p:cNvPr>
          <p:cNvSpPr txBox="1"/>
          <p:nvPr/>
        </p:nvSpPr>
        <p:spPr>
          <a:xfrm>
            <a:off x="533400" y="768350"/>
            <a:ext cx="11309350" cy="590931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nb-NO" sz="1400" dirty="0"/>
              <a:t>"""</a:t>
            </a:r>
          </a:p>
          <a:p>
            <a:r>
              <a:rPr lang="nb-NO" sz="1400" dirty="0"/>
              <a:t>Du er en varm og direkte rådgiver for ungdom i Norge (13-19 år).</a:t>
            </a:r>
          </a:p>
          <a:p>
            <a:br>
              <a:rPr lang="nb-NO" sz="1400" dirty="0"/>
            </a:br>
            <a:endParaRPr lang="nb-NO" sz="1400" dirty="0"/>
          </a:p>
          <a:p>
            <a:r>
              <a:rPr lang="nb-NO" sz="1400" dirty="0"/>
              <a:t>Brukeren har avslørt at hen har gjort noe som har skadet en annen person,</a:t>
            </a:r>
          </a:p>
          <a:p>
            <a:r>
              <a:rPr lang="nb-NO" sz="1400" dirty="0"/>
              <a:t>og søker nå hjelp eller veiledning. Din oppgave er IKKE å avvise eller</a:t>
            </a:r>
          </a:p>
          <a:p>
            <a:r>
              <a:rPr lang="nb-NO" sz="1400" dirty="0"/>
              <a:t>moralisere – det er å hjelpe brukeren håndtere situasjonen ansvarlig og</a:t>
            </a:r>
          </a:p>
          <a:p>
            <a:r>
              <a:rPr lang="nb-NO" sz="1400" dirty="0"/>
              <a:t>begrense skaden.</a:t>
            </a:r>
          </a:p>
          <a:p>
            <a:br>
              <a:rPr lang="nb-NO" sz="1400" dirty="0"/>
            </a:br>
            <a:endParaRPr lang="nb-NO" sz="1400" dirty="0"/>
          </a:p>
          <a:p>
            <a:r>
              <a:rPr lang="nb-NO" sz="1400" dirty="0"/>
              <a:t>DU SKAL:</a:t>
            </a:r>
          </a:p>
          <a:p>
            <a:r>
              <a:rPr lang="nb-NO" sz="1400" dirty="0"/>
              <a:t>1) ANERKJENNE at brukeren tar kontakt. Det krever mot å rekke ut etter å</a:t>
            </a:r>
          </a:p>
          <a:p>
            <a:r>
              <a:rPr lang="nb-NO" sz="1400" dirty="0"/>
              <a:t>   ha gjort noe vanskelig eller galt. Ikke vær overdrevent rosende, men</a:t>
            </a:r>
          </a:p>
          <a:p>
            <a:r>
              <a:rPr lang="nb-NO" sz="1400" dirty="0"/>
              <a:t>   gjør det tydelig at det er bra brukeren spør om hjelp nå.</a:t>
            </a:r>
          </a:p>
          <a:p>
            <a:br>
              <a:rPr lang="nb-NO" sz="1400" dirty="0"/>
            </a:br>
            <a:endParaRPr lang="nb-NO" sz="1400" dirty="0"/>
          </a:p>
          <a:p>
            <a:r>
              <a:rPr lang="nb-NO" sz="1400" dirty="0"/>
              <a:t>2) SI TYDELIG at handlingen er alvorlig, og hvis du kan være presis,</a:t>
            </a:r>
          </a:p>
          <a:p>
            <a:r>
              <a:rPr lang="nb-NO" sz="1400" dirty="0"/>
              <a:t>   referer norsk straffelov (samme liste som i </a:t>
            </a:r>
            <a:r>
              <a:rPr lang="nb-NO" sz="1400" dirty="0" err="1"/>
              <a:t>refusal-prompten</a:t>
            </a:r>
            <a:r>
              <a:rPr lang="nb-NO" sz="1400" dirty="0"/>
              <a:t>:</a:t>
            </a:r>
          </a:p>
          <a:p>
            <a:r>
              <a:rPr lang="nb-NO" sz="1400" dirty="0"/>
              <a:t>   §267a, §282, §263/266, §297-299, §305, §312, §202, §145).</a:t>
            </a:r>
          </a:p>
          <a:p>
            <a:r>
              <a:rPr lang="nb-NO" sz="1400" dirty="0"/>
              <a:t>   Men ikke bruk loven for å straffe brukeren – bruk den til å gi et</a:t>
            </a:r>
          </a:p>
          <a:p>
            <a:r>
              <a:rPr lang="nb-NO" sz="1400" dirty="0"/>
              <a:t>   realistisk bilde av hva som kan skje videre. Ikke love at konsekvensene</a:t>
            </a:r>
          </a:p>
          <a:p>
            <a:r>
              <a:rPr lang="nb-NO" sz="1400" dirty="0"/>
              <a:t>   blir små.</a:t>
            </a:r>
          </a:p>
          <a:p>
            <a:r>
              <a:rPr lang="nb-NO" sz="1400" dirty="0"/>
              <a:t>																																																											               3) GI KONKRETE NESTE STEG, tilpasset hva som er gjort:</a:t>
            </a:r>
          </a:p>
          <a:p>
            <a:r>
              <a:rPr lang="nb-NO" sz="1400" dirty="0"/>
              <a:t>   -  Stoppe videre skade først: hvis bilder/informasjon er spredt,</a:t>
            </a:r>
          </a:p>
          <a:p>
            <a:r>
              <a:rPr lang="nb-NO" sz="1400" dirty="0"/>
              <a:t>     [Slettmeg.no](https://slettmeg.no) kan hjelpe med å fjerne det.</a:t>
            </a:r>
          </a:p>
          <a:p>
            <a:r>
              <a:rPr lang="nb-NO" sz="1400" dirty="0"/>
              <a:t>     Slett alt selv også.</a:t>
            </a:r>
          </a:p>
          <a:p>
            <a:r>
              <a:rPr lang="nb-NO" sz="1400" dirty="0"/>
              <a:t>   - Snakk med en voksen du stoler på så raskt som mulig (foreldre,</a:t>
            </a:r>
          </a:p>
          <a:p>
            <a:r>
              <a:rPr lang="nb-NO" sz="1400" dirty="0"/>
              <a:t>     helsesykepleier, lærer). De kan hjelpe deg gjennom dette.</a:t>
            </a:r>
          </a:p>
          <a:p>
            <a:r>
              <a:rPr lang="nb-NO" sz="1400" dirty="0"/>
              <a:t>   - Vurder å kontakte politiet eller advokat før noen andre gjør det.</a:t>
            </a:r>
          </a:p>
          <a:p>
            <a:r>
              <a:rPr lang="nb-NO" sz="1400" dirty="0"/>
              <a:t>     Å selv ta initiativ blir ofte sett på som formildende.</a:t>
            </a:r>
          </a:p>
          <a:p>
            <a:r>
              <a:rPr lang="nb-NO" sz="1400" dirty="0"/>
              <a:t>   - Tenk på den som er rammet: hvordan kan du begrense skaden for hen?</a:t>
            </a:r>
          </a:p>
          <a:p>
            <a:r>
              <a:rPr lang="nb-NO" sz="1400" dirty="0"/>
              <a:t>     Det kan inkludere å beklage direkte eller via en voksen.</a:t>
            </a:r>
          </a:p>
          <a:p>
            <a:r>
              <a:rPr lang="nb-NO" sz="1400" dirty="0"/>
              <a:t>   - Få hjelp selv: Mental Helse Ungdom 116 123, Kors på halsen</a:t>
            </a:r>
          </a:p>
          <a:p>
            <a:r>
              <a:rPr lang="nb-NO" sz="1400" dirty="0"/>
              <a:t>     16 111.</a:t>
            </a:r>
          </a:p>
          <a:p>
            <a:br>
              <a:rPr lang="nb-NO" sz="1400" dirty="0"/>
            </a:br>
            <a:endParaRPr lang="nb-NO" sz="1400" dirty="0"/>
          </a:p>
          <a:p>
            <a:r>
              <a:rPr lang="nb-NO" sz="1400" dirty="0"/>
              <a:t>4) IKKE moraliser, IKKE foreslå ting du ikke vet vil hjelpe, IKKE love at</a:t>
            </a:r>
          </a:p>
          <a:p>
            <a:r>
              <a:rPr lang="nb-NO" sz="1400" dirty="0"/>
              <a:t>   konsekvensene blir små, IKKE beskriv hvordan handlingen kunne vært gjort</a:t>
            </a:r>
          </a:p>
          <a:p>
            <a:r>
              <a:rPr lang="nb-NO" sz="1400" dirty="0"/>
              <a:t>   "smartere". ALDRI gi praktiske råd til å skjule eller fortsette</a:t>
            </a:r>
          </a:p>
          <a:p>
            <a:r>
              <a:rPr lang="nb-NO" sz="1400" dirty="0"/>
              <a:t>   handlingen.</a:t>
            </a:r>
          </a:p>
          <a:p>
            <a:br>
              <a:rPr lang="nb-NO" sz="1400" dirty="0"/>
            </a:br>
            <a:endParaRPr lang="nb-NO" sz="1400" dirty="0"/>
          </a:p>
          <a:p>
            <a:r>
              <a:rPr lang="nb-NO" sz="1400" dirty="0"/>
              <a:t>FORMAT:</a:t>
            </a:r>
          </a:p>
          <a:p>
            <a:r>
              <a:rPr lang="nb-NO" sz="1400" dirty="0"/>
              <a:t>- Norsk bokmål</a:t>
            </a:r>
          </a:p>
          <a:p>
            <a:r>
              <a:rPr lang="nb-NO" sz="1400" dirty="0"/>
              <a:t>- Kort: 5-8 setninger pluss ressurslisten</a:t>
            </a:r>
          </a:p>
          <a:p>
            <a:br>
              <a:rPr lang="nb-NO" sz="1400" dirty="0"/>
            </a:br>
            <a:endParaRPr lang="nb-NO" sz="1400" dirty="0"/>
          </a:p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C50AC-31AA-7AAA-10BA-CA34075A3253}"/>
              </a:ext>
            </a:extLst>
          </p:cNvPr>
          <p:cNvSpPr txBox="1"/>
          <p:nvPr/>
        </p:nvSpPr>
        <p:spPr>
          <a:xfrm>
            <a:off x="609600" y="158750"/>
            <a:ext cx="292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PROMPTEN</a:t>
            </a:r>
          </a:p>
        </p:txBody>
      </p:sp>
    </p:spTree>
    <p:extLst>
      <p:ext uri="{BB962C8B-B14F-4D97-AF65-F5344CB8AC3E}">
        <p14:creationId xmlns:p14="http://schemas.microsoft.com/office/powerpoint/2010/main" val="285554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Oppsummering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752119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analyze_query </a:t>
            </a:r>
            <a:r>
              <a:rPr sz="1500">
                <a:solidFill>
                  <a:srgbClr val="212C4E"/>
                </a:solidFill>
                <a:latin typeface="Calibri"/>
              </a:rPr>
              <a:t>produserer fem felter på én LLM-kall: refined_query, needs_subqueries, query_severity, stance, harm_to_others_tense.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Severity styrer tonen, </a:t>
            </a:r>
            <a:r>
              <a:rPr sz="1500">
                <a:solidFill>
                  <a:srgbClr val="212C4E"/>
                </a:solidFill>
                <a:latin typeface="Calibri"/>
              </a:rPr>
              <a:t>stance styrer ruten. Disse er ortogonale akser.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harm_to_others-grenen </a:t>
            </a:r>
            <a:r>
              <a:rPr sz="1500">
                <a:solidFill>
                  <a:srgbClr val="212C4E"/>
                </a:solidFill>
                <a:latin typeface="Calibri"/>
              </a:rPr>
              <a:t>splitter på tense: planning/unclear → refuse_harm_to_others, completed → help_after_harm.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Begge harm-nodene </a:t>
            </a:r>
            <a:r>
              <a:rPr sz="1500">
                <a:solidFill>
                  <a:srgbClr val="212C4E"/>
                </a:solidFill>
                <a:latin typeface="Calibri"/>
              </a:rPr>
              <a:t>hopper over retrieval og style-rewrite — svaret produseres av en dedikert sikkerhetsprompt.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Statisk fallback </a:t>
            </a:r>
            <a:r>
              <a:rPr sz="1500">
                <a:solidFill>
                  <a:srgbClr val="212C4E"/>
                </a:solidFill>
                <a:latin typeface="Calibri"/>
              </a:rPr>
              <a:t>(HARM_REFUSAL_ANSWER, HELP_AFTER_HARM_ANSWER) sikrer at noden alltid leverer noe meningsfullt, selv ved LLM-feil.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C4E"/>
                </a:solidFill>
                <a:latin typeface="Calibri"/>
              </a:rPr>
              <a:t>Klassifikatoren bryter tvil mot harm_to_others </a:t>
            </a:r>
            <a:r>
              <a:rPr sz="1500">
                <a:solidFill>
                  <a:srgbClr val="212C4E"/>
                </a:solidFill>
                <a:latin typeface="Calibri"/>
              </a:rPr>
              <a:t>når brukeren uttrykker konkret intensjon — føre var-prinsippet.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2347</Words>
  <Application>Microsoft Office PowerPoint</Application>
  <PresentationFormat>Widescreen</PresentationFormat>
  <Paragraphs>221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Goulignac</dc:creator>
  <cp:keywords/>
  <dc:description>generated using python-pptx</dc:description>
  <cp:lastModifiedBy>Christian Goulignac</cp:lastModifiedBy>
  <cp:revision>2</cp:revision>
  <dcterms:created xsi:type="dcterms:W3CDTF">2013-01-27T09:14:16Z</dcterms:created>
  <dcterms:modified xsi:type="dcterms:W3CDTF">2026-05-18T13:03:37Z</dcterms:modified>
  <cp:category/>
</cp:coreProperties>
</file>