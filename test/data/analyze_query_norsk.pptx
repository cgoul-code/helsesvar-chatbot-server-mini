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C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1980000"/>
            <a:ext cx="10392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Agent-arbeidsflyt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3060000"/>
            <a:ext cx="1039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E7F1"/>
                </a:solidFill>
                <a:latin typeface="Calibri"/>
              </a:rPr>
              <a:t>Hva analyze_query kartlegger — og veien til help_after_harm og refuse_harm_to_others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5040000"/>
            <a:ext cx="1039211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7F1"/>
                </a:solidFill>
                <a:latin typeface="Calibri"/>
              </a:rPr>
              <a:t>HEI 2.0 — KI-chatbot for ungdom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Arbeidsflyten i grovt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LangGraph-statemaskin, definert i agent_workflow_answer.py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" y="1440000"/>
            <a:ext cx="1080000" cy="503999"/>
          </a:xfrm>
          <a:prstGeom prst="roundRect">
            <a:avLst/>
          </a:prstGeom>
          <a:solidFill>
            <a:srgbClr val="E2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 wrap="square"/>
          <a:lstStyle/>
          <a:p>
            <a:pPr algn="ctr"/>
            <a:r>
              <a:rPr sz="1400" b="1">
                <a:solidFill>
                  <a:srgbClr val="212C4E"/>
                </a:solidFill>
                <a:latin typeface="Calibri"/>
              </a:rP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2000" y="1440000"/>
            <a:ext cx="2340000" cy="503999"/>
          </a:xfrm>
          <a:prstGeom prst="roundRect">
            <a:avLst/>
          </a:prstGeom>
          <a:solidFill>
            <a:srgbClr val="336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analyze_query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12000" y="1692000"/>
            <a:ext cx="360000" cy="0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60000" y="1296000"/>
            <a:ext cx="2340000" cy="792000"/>
          </a:xfrm>
          <a:prstGeom prst="round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route_after_analysis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12000" y="1692000"/>
            <a:ext cx="648000" cy="0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2000" y="2700000"/>
            <a:ext cx="2592000" cy="936000"/>
          </a:xfrm>
          <a:prstGeom prst="roundRect">
            <a:avLst/>
          </a:prstGeom>
          <a:solidFill>
            <a:srgbClr val="FC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90000" bIns="90000" wrap="square"/>
          <a:lstStyle/>
          <a:p>
            <a:pPr algn="ctr"/>
            <a:r>
              <a:rPr sz="1400" b="1">
                <a:solidFill>
                  <a:srgbClr val="B13A3A"/>
                </a:solidFill>
                <a:latin typeface="Calibri"/>
              </a:rPr>
              <a:t>refuse_harm_to_others</a:t>
            </a:r>
          </a:p>
          <a:p>
            <a:pPr algn="ctr"/>
            <a:r>
              <a:rPr sz="1100">
                <a:solidFill>
                  <a:srgbClr val="212C4E"/>
                </a:solidFill>
                <a:latin typeface="Calibri"/>
              </a:rPr>
              <a:t>stance=harm_to_others
tense=planning / unclear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728000" y="2088000"/>
            <a:ext cx="4302000" cy="612000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0000" y="2700000"/>
            <a:ext cx="2592000" cy="936000"/>
          </a:xfrm>
          <a:prstGeom prst="roundRect">
            <a:avLst/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90000" bIns="90000" wrap="square"/>
          <a:lstStyle/>
          <a:p>
            <a:pPr algn="ctr"/>
            <a:r>
              <a:rPr sz="1400" b="1">
                <a:solidFill>
                  <a:srgbClr val="2E8B57"/>
                </a:solidFill>
                <a:latin typeface="Calibri"/>
              </a:rPr>
              <a:t>help_after_harm</a:t>
            </a:r>
          </a:p>
          <a:p>
            <a:pPr algn="ctr"/>
            <a:r>
              <a:rPr sz="1100">
                <a:solidFill>
                  <a:srgbClr val="212C4E"/>
                </a:solidFill>
                <a:latin typeface="Calibri"/>
              </a:rPr>
              <a:t>stance=harm_to_others
tense=completed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716000" y="2088000"/>
            <a:ext cx="1314000" cy="612000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8000" y="2700000"/>
            <a:ext cx="2592000" cy="936000"/>
          </a:xfrm>
          <a:prstGeom prst="roundRect">
            <a:avLst/>
          </a:prstGeom>
          <a:solidFill>
            <a:srgbClr val="E2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90000" bIns="90000" wrap="square"/>
          <a:lstStyle/>
          <a:p>
            <a:pPr algn="ctr"/>
            <a:r>
              <a:rPr sz="1400" b="1">
                <a:solidFill>
                  <a:srgbClr val="3368C6"/>
                </a:solidFill>
                <a:latin typeface="Calibri"/>
              </a:rPr>
              <a:t>fast_single</a:t>
            </a:r>
          </a:p>
          <a:p>
            <a:pPr algn="ctr"/>
            <a:r>
              <a:rPr sz="1100">
                <a:solidFill>
                  <a:srgbClr val="212C4E"/>
                </a:solidFill>
                <a:latin typeface="Calibri"/>
              </a:rPr>
              <a:t>ett spørsmål, ingen subqueries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0000" y="2088000"/>
            <a:ext cx="1674000" cy="612000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0000" y="2700000"/>
            <a:ext cx="2592000" cy="936000"/>
          </a:xfrm>
          <a:prstGeom prst="roundRect">
            <a:avLst/>
          </a:prstGeom>
          <a:solidFill>
            <a:srgbClr val="E2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90000" bIns="90000" wrap="square"/>
          <a:lstStyle/>
          <a:p>
            <a:pPr algn="ctr"/>
            <a:r>
              <a:rPr sz="1400" b="1">
                <a:solidFill>
                  <a:srgbClr val="212C4E"/>
                </a:solidFill>
                <a:latin typeface="Calibri"/>
              </a:rPr>
              <a:t>orchestrator → workers</a:t>
            </a:r>
          </a:p>
          <a:p>
            <a:pPr algn="ctr"/>
            <a:r>
              <a:rPr sz="1100">
                <a:solidFill>
                  <a:srgbClr val="212C4E"/>
                </a:solidFill>
                <a:latin typeface="Calibri"/>
              </a:rPr>
              <a:t>needs_subqueries = True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0000" y="2088000"/>
            <a:ext cx="4446000" cy="612000"/>
          </a:xfrm>
          <a:prstGeom prst="line">
            <a:avLst/>
          </a:prstGeom>
          <a:ln w="25400">
            <a:solidFill>
              <a:srgbClr val="336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" y="3960000"/>
            <a:ext cx="11328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B"/>
                </a:solidFill>
                <a:latin typeface="Calibri"/>
              </a:rPr>
              <a:t>De to harm-grenene hopper over både retrieval og empathy_rewrite — svaret produseres direkte av en sikkerhetsprompt, ikke fra kunnskapsbasen.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5400000"/>
            <a:ext cx="1132811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B6B"/>
                </a:solidFill>
                <a:latin typeface="Calibri"/>
              </a:rPr>
              <a:t>fast_single og orchestrator går videre gjennom retrieval → grounded answer → claim-verifikasjon → apply_response_style → emit.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Hva analyze_query kartlegger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Ett LLM-kall per spørsmål — produserer QueryPlan-objekt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11112119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000" y="1260000"/>
            <a:ext cx="144000" cy="827999"/>
          </a:xfrm>
          <a:prstGeom prst="roundRect">
            <a:avLst/>
          </a:prstGeom>
          <a:solidFill>
            <a:srgbClr val="336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1350000"/>
            <a:ext cx="10572119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2C4E"/>
                </a:solidFill>
                <a:latin typeface="Calibri"/>
              </a:rPr>
              <a:t>1. refined_query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Rensket, søkbar versjon av spørsmålet på bokmål.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196000"/>
            <a:ext cx="11112119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000" y="2196000"/>
            <a:ext cx="144000" cy="827999"/>
          </a:xfrm>
          <a:prstGeom prst="roundRect">
            <a:avLst/>
          </a:prstGeom>
          <a:solidFill>
            <a:srgbClr val="555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2286000"/>
            <a:ext cx="10572119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2C4E"/>
                </a:solidFill>
                <a:latin typeface="Calibri"/>
              </a:rPr>
              <a:t>2. needs_subqueries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Skal spørsmålet deles i delspørsmål for å besvares godt? (True bare ved 3+ separate temaer.)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132000"/>
            <a:ext cx="11112119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0000" y="3132000"/>
            <a:ext cx="144000" cy="827999"/>
          </a:xfrm>
          <a:prstGeom prst="roundRect">
            <a:avLst/>
          </a:prstGeom>
          <a:solidFill>
            <a:srgbClr val="C99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000" y="3222000"/>
            <a:ext cx="10572119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2C4E"/>
                </a:solidFill>
                <a:latin typeface="Calibri"/>
              </a:rPr>
              <a:t>3. query_severity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Green / Yellow / Red — hvor akutt er situasjonen?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068000"/>
            <a:ext cx="11112119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0000" y="4068000"/>
            <a:ext cx="144000" cy="827999"/>
          </a:xfrm>
          <a:prstGeom prst="round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000" y="4158000"/>
            <a:ext cx="10572119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2C4E"/>
                </a:solidFill>
                <a:latin typeface="Calibri"/>
              </a:rPr>
              <a:t>4. stance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info_seeker / affected_party / harm_to_others / ambiguous — hvilken rolle har brukeren?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5004000"/>
            <a:ext cx="11112119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0000" y="5004000"/>
            <a:ext cx="144000" cy="827999"/>
          </a:xfrm>
          <a:prstGeom prst="roundRect">
            <a:avLst/>
          </a:prstGeom>
          <a:solidFill>
            <a:srgbClr val="B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000" y="5094000"/>
            <a:ext cx="10572119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2C4E"/>
                </a:solidFill>
                <a:latin typeface="Calibri"/>
              </a:rPr>
              <a:t>5. harm_to_others_tense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planning / completed / unclear / na — bare relevant når stance=harm_to_others.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Alvorlighetsgrad (query_severity)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Bestemmer tone, relaterte spørsmål og fallback-tekst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440000"/>
            <a:ext cx="1260000" cy="936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0000" y="1512000"/>
            <a:ext cx="949211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2C4E"/>
                </a:solidFill>
                <a:latin typeface="Calibri"/>
              </a:rPr>
              <a:t>Forebyggende, generell info. Trygt og rolig.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Eksempel: «Hvordan virker p-piller?», «Hva er samtykke?»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520000"/>
            <a:ext cx="1260000" cy="936000"/>
          </a:xfrm>
          <a:prstGeom prst="roundRect">
            <a:avLst/>
          </a:prstGeom>
          <a:solidFill>
            <a:srgbClr val="C99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YELLOW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2592000"/>
            <a:ext cx="949211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2C4E"/>
                </a:solidFill>
                <a:latin typeface="Calibri"/>
              </a:rPr>
              <a:t>Sårbar situasjon, vanskelige følelser, ikke akutt.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Eksempel: «Jeg angrer på at jeg sendte et nakenbilde.»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3600000"/>
            <a:ext cx="1260000" cy="936000"/>
          </a:xfrm>
          <a:prstGeom prst="roundRect">
            <a:avLst/>
          </a:prstGeom>
          <a:solidFill>
            <a:srgbClr val="B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0000" y="3672000"/>
            <a:ext cx="949211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12C4E"/>
                </a:solidFill>
                <a:latin typeface="Calibri"/>
              </a:rPr>
              <a:t>Akutt krise — voldsom risiko, overgrep, selvskading.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Eksempel: «Jeg ble voldtatt i går», «Jeg klarer ikke mer.»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55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B6B"/>
                </a:solidFill>
                <a:latin typeface="Calibri"/>
              </a:rPr>
              <a:t>Severity-Red overstyrer alle response_style-valg og tvinger «crisis»-tonen (safety floor).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Stance — hvem er aktøren, hvem er målet?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Separat akse fra alvorlighetsgrad; avgjør om svaret skal rutes til sikkerhetsnodene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000" y="1260000"/>
            <a:ext cx="144000" cy="2088000"/>
          </a:xfrm>
          <a:prstGeom prst="roundRect">
            <a:avLst/>
          </a:prstGeom>
          <a:solidFill>
            <a:srgbClr val="336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368C6"/>
                </a:solidFill>
                <a:latin typeface="Calibri"/>
              </a:rPr>
              <a:t>info_seeker</a:t>
            </a:r>
          </a:p>
          <a:p>
            <a:r>
              <a:rPr sz="1300">
                <a:solidFill>
                  <a:srgbClr val="212C4E"/>
                </a:solidFill>
                <a:latin typeface="Calibri"/>
              </a:rPr>
              <a:t>Ber om generell kunnskap. Ingen konkret aktør.</a:t>
            </a:r>
          </a:p>
          <a:p>
            <a:r>
              <a:rPr sz="1100" b="1">
                <a:solidFill>
                  <a:srgbClr val="555B6B"/>
                </a:solidFill>
                <a:latin typeface="Calibri"/>
              </a:rPr>
              <a:t>Eksempel: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«Hva sier loven om deling av nakenbilder?»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0" y="1260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0000" y="1260000"/>
            <a:ext cx="144000" cy="2088000"/>
          </a:xfrm>
          <a:prstGeom prst="roundRect">
            <a:avLst/>
          </a:prstGeom>
          <a:solidFill>
            <a:srgbClr val="C99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4000" y="1368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99A18"/>
                </a:solidFill>
                <a:latin typeface="Calibri"/>
              </a:rPr>
              <a:t>affected_party</a:t>
            </a:r>
          </a:p>
          <a:p>
            <a:r>
              <a:rPr sz="1300">
                <a:solidFill>
                  <a:srgbClr val="212C4E"/>
                </a:solidFill>
                <a:latin typeface="Calibri"/>
              </a:rPr>
              <a:t>Brukeren beskriver noe som rammer hen selv (offer, presset, redd).</a:t>
            </a:r>
          </a:p>
          <a:p>
            <a:r>
              <a:rPr sz="1100" b="1">
                <a:solidFill>
                  <a:srgbClr val="555B6B"/>
                </a:solidFill>
                <a:latin typeface="Calibri"/>
              </a:rPr>
              <a:t>Eksempel: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«Eksen min truer med å dele nakenbilder av meg.»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600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0000" y="3600000"/>
            <a:ext cx="144000" cy="2088000"/>
          </a:xfrm>
          <a:prstGeom prst="roundRect">
            <a:avLst/>
          </a:prstGeom>
          <a:solidFill>
            <a:srgbClr val="B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000" y="3708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13A3A"/>
                </a:solidFill>
                <a:latin typeface="Calibri"/>
              </a:rPr>
              <a:t>harm_to_others</a:t>
            </a:r>
          </a:p>
          <a:p>
            <a:r>
              <a:rPr sz="1300">
                <a:solidFill>
                  <a:srgbClr val="212C4E"/>
                </a:solidFill>
                <a:latin typeface="Calibri"/>
              </a:rPr>
              <a:t>Brukeren spør om å gjøre noe ulovlig/skadelig MOT en annen.</a:t>
            </a:r>
          </a:p>
          <a:p>
            <a:r>
              <a:rPr sz="1100" b="1">
                <a:solidFill>
                  <a:srgbClr val="555B6B"/>
                </a:solidFill>
                <a:latin typeface="Calibri"/>
              </a:rPr>
              <a:t>Eksempel: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«Jeg vil dele nakenbilder av eksen min, hvordan?»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0000" y="3600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0000" y="3600000"/>
            <a:ext cx="144000" cy="2088000"/>
          </a:xfrm>
          <a:prstGeom prst="roundRect">
            <a:avLst/>
          </a:prstGeom>
          <a:solidFill>
            <a:srgbClr val="555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4000" y="3708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55B6B"/>
                </a:solidFill>
                <a:latin typeface="Calibri"/>
              </a:rPr>
              <a:t>ambiguous</a:t>
            </a:r>
          </a:p>
          <a:p>
            <a:r>
              <a:rPr sz="1300">
                <a:solidFill>
                  <a:srgbClr val="212C4E"/>
                </a:solidFill>
                <a:latin typeface="Calibri"/>
              </a:rPr>
              <a:t>Uklart hvem som er aktør og hvem som er mål.</a:t>
            </a:r>
          </a:p>
          <a:p>
            <a:r>
              <a:rPr sz="1100" b="1">
                <a:solidFill>
                  <a:srgbClr val="555B6B"/>
                </a:solidFill>
                <a:latin typeface="Calibri"/>
              </a:rPr>
              <a:t>Eksempel:</a:t>
            </a:r>
          </a:p>
          <a:p>
            <a:r>
              <a:rPr sz="1200" i="1">
                <a:solidFill>
                  <a:srgbClr val="555B6B"/>
                </a:solidFill>
                <a:latin typeface="Calibri"/>
              </a:rPr>
              <a:t>«Det ble delt bilder, hva gjør jeg?»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harm_to_others_tense — bare når stance = harm_to_others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Tempus bestemmer om svaret blir et avslag eller skadebegrensning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332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000" y="1332000"/>
            <a:ext cx="144000" cy="2088000"/>
          </a:xfrm>
          <a:prstGeom prst="roundRect">
            <a:avLst/>
          </a:prstGeom>
          <a:solidFill>
            <a:srgbClr val="B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13A3A"/>
                </a:solidFill>
                <a:latin typeface="Calibri"/>
              </a:rPr>
              <a:t>planning</a:t>
            </a:r>
          </a:p>
          <a:p>
            <a:r>
              <a:rPr sz="1200">
                <a:solidFill>
                  <a:srgbClr val="212C4E"/>
                </a:solidFill>
                <a:latin typeface="Calibri"/>
              </a:rPr>
              <a:t>Bruker vurderer/planlegger handlingen. Verb peker fremover: «vil», «skal», «hvordan kan jeg».</a:t>
            </a:r>
          </a:p>
          <a:p>
            <a:r>
              <a:rPr sz="1300" b="1">
                <a:solidFill>
                  <a:srgbClr val="B13A3A"/>
                </a:solidFill>
                <a:latin typeface="Calibri"/>
              </a:rPr>
              <a:t>→ refuse_harm_to_others</a:t>
            </a:r>
          </a:p>
          <a:p>
            <a:r>
              <a:rPr sz="1100" i="1">
                <a:solidFill>
                  <a:srgbClr val="555B6B"/>
                </a:solidFill>
                <a:latin typeface="Calibri"/>
              </a:rPr>
              <a:t>Eks: «jeg vil spre nakenbilder av eksen»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0" y="1332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0000" y="1332000"/>
            <a:ext cx="144000" cy="2088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4000" y="1440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8B57"/>
                </a:solidFill>
                <a:latin typeface="Calibri"/>
              </a:rPr>
              <a:t>completed</a:t>
            </a:r>
          </a:p>
          <a:p>
            <a:r>
              <a:rPr sz="1200">
                <a:solidFill>
                  <a:srgbClr val="212C4E"/>
                </a:solidFill>
                <a:latin typeface="Calibri"/>
              </a:rPr>
              <a:t>Handlingen er allerede gjort. Verb i fortid/perfektum: «har sendt», «delte», «filmet».</a:t>
            </a:r>
          </a:p>
          <a:p>
            <a:r>
              <a:rPr sz="1300" b="1">
                <a:solidFill>
                  <a:srgbClr val="2E8B57"/>
                </a:solidFill>
                <a:latin typeface="Calibri"/>
              </a:rPr>
              <a:t>→ help_after_harm</a:t>
            </a:r>
          </a:p>
          <a:p>
            <a:r>
              <a:rPr sz="1100" i="1">
                <a:solidFill>
                  <a:srgbClr val="555B6B"/>
                </a:solidFill>
                <a:latin typeface="Calibri"/>
              </a:rPr>
              <a:t>Eks: «jeg har delt nakenbilder av eksen, hva nå?»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708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0000" y="3708000"/>
            <a:ext cx="144000" cy="2088000"/>
          </a:xfrm>
          <a:prstGeom prst="roundRect">
            <a:avLst/>
          </a:prstGeom>
          <a:solidFill>
            <a:srgbClr val="C99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000" y="3816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99A18"/>
                </a:solidFill>
                <a:latin typeface="Calibri"/>
              </a:rPr>
              <a:t>unclear</a:t>
            </a:r>
          </a:p>
          <a:p>
            <a:r>
              <a:rPr sz="1200">
                <a:solidFill>
                  <a:srgbClr val="212C4E"/>
                </a:solidFill>
                <a:latin typeface="Calibri"/>
              </a:rPr>
              <a:t>Tvetydig — bruker «har bildene» men ikke klart om handlingen er utført.</a:t>
            </a:r>
          </a:p>
          <a:p>
            <a:r>
              <a:rPr sz="1300" b="1">
                <a:solidFill>
                  <a:srgbClr val="C99A18"/>
                </a:solidFill>
                <a:latin typeface="Calibri"/>
              </a:rPr>
              <a:t>→ refuse_harm_to_others</a:t>
            </a:r>
          </a:p>
          <a:p>
            <a:r>
              <a:rPr sz="1100" i="1">
                <a:solidFill>
                  <a:srgbClr val="555B6B"/>
                </a:solidFill>
                <a:latin typeface="Calibri"/>
              </a:rPr>
              <a:t>Eks: «har nakenbilder og vurderer å dele dem»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0000" y="3708000"/>
            <a:ext cx="540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0000" y="3708000"/>
            <a:ext cx="144000" cy="2088000"/>
          </a:xfrm>
          <a:prstGeom prst="roundRect">
            <a:avLst/>
          </a:prstGeom>
          <a:solidFill>
            <a:srgbClr val="555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4000" y="3816000"/>
            <a:ext cx="486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55B6B"/>
                </a:solidFill>
                <a:latin typeface="Calibri"/>
              </a:rPr>
              <a:t>na</a:t>
            </a:r>
          </a:p>
          <a:p>
            <a:r>
              <a:rPr sz="1200">
                <a:solidFill>
                  <a:srgbClr val="212C4E"/>
                </a:solidFill>
                <a:latin typeface="Calibri"/>
              </a:rPr>
              <a:t>Stance er ikke harm_to_others. Ingen sikkerhetsrute.</a:t>
            </a:r>
          </a:p>
          <a:p>
            <a:r>
              <a:rPr sz="1300" b="1">
                <a:solidFill>
                  <a:srgbClr val="555B6B"/>
                </a:solidFill>
                <a:latin typeface="Calibri"/>
              </a:rPr>
              <a:t>→ normal flyt (fast_single/orchestrator)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route_after_analysis — beslutningsreglene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Stance dominerer. Tense splitter harm-grenen i 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11112119" cy="2340000"/>
          </a:xfrm>
          <a:prstGeom prst="round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368000"/>
            <a:ext cx="10752119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2E7F1"/>
                </a:solidFill>
                <a:latin typeface="Consolas"/>
              </a:rPr>
              <a:t>if </a:t>
            </a:r>
            <a:r>
              <a:rPr sz="1600" b="1">
                <a:solidFill>
                  <a:srgbClr val="FFFFFF"/>
                </a:solidFill>
                <a:latin typeface="Consolas"/>
              </a:rPr>
              <a:t>stance == "harm_to_others":
</a:t>
            </a:r>
            <a:r>
              <a:rPr sz="1600" b="0">
                <a:solidFill>
                  <a:srgbClr val="E2E7F1"/>
                </a:solidFill>
                <a:latin typeface="Consolas"/>
              </a:rPr>
              <a:t>    tense = harm_to_others_tense
</a:t>
            </a:r>
            <a:r>
              <a:rPr sz="1600" b="0">
                <a:solidFill>
                  <a:srgbClr val="E2E7F1"/>
                </a:solidFill>
                <a:latin typeface="Consolas"/>
              </a:rPr>
              <a:t>    if </a:t>
            </a:r>
            <a:r>
              <a:rPr sz="1600" b="1">
                <a:solidFill>
                  <a:srgbClr val="FFFFFF"/>
                </a:solidFill>
                <a:latin typeface="Consolas"/>
              </a:rPr>
              <a:t>tense == "completed":  return </a:t>
            </a:r>
            <a:r>
              <a:rPr sz="1600" b="1">
                <a:solidFill>
                  <a:srgbClr val="2E8B57"/>
                </a:solidFill>
                <a:latin typeface="Consolas"/>
              </a:rPr>
              <a:t>"help_after_harm"
</a:t>
            </a:r>
            <a:r>
              <a:rPr sz="1600" b="0">
                <a:solidFill>
                  <a:srgbClr val="E2E7F1"/>
                </a:solidFill>
                <a:latin typeface="Consolas"/>
              </a:rPr>
              <a:t>    return </a:t>
            </a:r>
            <a:r>
              <a:rPr sz="1600" b="1">
                <a:solidFill>
                  <a:srgbClr val="B13A3A"/>
                </a:solidFill>
                <a:latin typeface="Consolas"/>
              </a:rPr>
              <a:t>"refuse_harm_to_others"
</a:t>
            </a:r>
            <a:r>
              <a:rPr sz="1600" b="0">
                <a:solidFill>
                  <a:srgbClr val="E2E7F1"/>
                </a:solidFill>
                <a:latin typeface="Consolas"/>
              </a:rPr>
              <a:t>if needs_subqueries:  return </a:t>
            </a:r>
            <a:r>
              <a:rPr sz="1600" b="1">
                <a:solidFill>
                  <a:srgbClr val="FFFFFF"/>
                </a:solidFill>
                <a:latin typeface="Consolas"/>
              </a:rPr>
              <a:t>"orchestrator"
</a:t>
            </a:r>
            <a:r>
              <a:rPr sz="1600" b="0">
                <a:solidFill>
                  <a:srgbClr val="E2E7F1"/>
                </a:solidFill>
                <a:latin typeface="Consolas"/>
              </a:rPr>
              <a:t>return </a:t>
            </a:r>
            <a:r>
              <a:rPr sz="1600" b="1">
                <a:solidFill>
                  <a:srgbClr val="FFFFFF"/>
                </a:solidFill>
                <a:latin typeface="Consolas"/>
              </a:rPr>
              <a:t>"fast_single"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888000"/>
            <a:ext cx="11112119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400">
                <a:solidFill>
                  <a:srgbClr val="212C4E"/>
                </a:solidFill>
                <a:latin typeface="Calibri"/>
              </a:rPr>
              <a:t>Stance dominerer. </a:t>
            </a:r>
            <a:r>
              <a:rPr sz="1400">
                <a:solidFill>
                  <a:srgbClr val="212C4E"/>
                </a:solidFill>
                <a:latin typeface="Calibri"/>
              </a:rPr>
              <a:t>Selv på Red-severity går harm_to_others til sikkerhetsnodene, ikke til kunnskapsbasen.</a:t>
            </a:r>
          </a:p>
          <a:p>
            <a:pPr algn="l">
              <a:spcAft>
                <a:spcPts val="600"/>
              </a:spcAft>
            </a:pPr>
            <a:r>
              <a:rPr b="1" sz="1400">
                <a:solidFill>
                  <a:srgbClr val="212C4E"/>
                </a:solidFill>
                <a:latin typeface="Calibri"/>
              </a:rPr>
              <a:t>Tense splitter. </a:t>
            </a:r>
            <a:r>
              <a:rPr sz="1400">
                <a:solidFill>
                  <a:srgbClr val="212C4E"/>
                </a:solidFill>
                <a:latin typeface="Calibri"/>
              </a:rPr>
              <a:t>Planlegging (eller uklar) → avslag. Allerede utført → skadebegrensning.</a:t>
            </a:r>
          </a:p>
          <a:p>
            <a:pPr algn="l">
              <a:spcAft>
                <a:spcPts val="600"/>
              </a:spcAft>
            </a:pPr>
            <a:r>
              <a:rPr b="1" sz="1400">
                <a:solidFill>
                  <a:srgbClr val="212C4E"/>
                </a:solidFill>
                <a:latin typeface="Calibri"/>
              </a:rPr>
              <a:t>Tvil mot harm_to_others. </a:t>
            </a:r>
            <a:r>
              <a:rPr sz="1400">
                <a:solidFill>
                  <a:srgbClr val="212C4E"/>
                </a:solidFill>
                <a:latin typeface="Calibri"/>
              </a:rPr>
              <a:t>Klassifikatoren er instruert til å velge harm_to_others når brukeren uttrykker konkret intensjon («jeg vil …»).</a:t>
            </a:r>
          </a:p>
          <a:p>
            <a:pPr algn="l">
              <a:spcAft>
                <a:spcPts val="600"/>
              </a:spcAft>
            </a:pPr>
            <a:r>
              <a:rPr b="1" sz="1400">
                <a:solidFill>
                  <a:srgbClr val="212C4E"/>
                </a:solidFill>
                <a:latin typeface="Calibri"/>
              </a:rPr>
              <a:t>Tvil mot info_seeker. </a:t>
            </a:r>
            <a:r>
              <a:rPr sz="1400">
                <a:solidFill>
                  <a:srgbClr val="212C4E"/>
                </a:solidFill>
                <a:latin typeface="Calibri"/>
              </a:rPr>
              <a:t>Rene kunnskapsspørsmål («hva sier loven om …») går til normal flyt.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refuse_harm_to_others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Konstruktivt avslag når brukeren planlegger (eller vurderer) å skade en annen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11112119" cy="576000"/>
          </a:xfrm>
          <a:prstGeom prst="roundRect">
            <a:avLst/>
          </a:prstGeom>
          <a:solidFill>
            <a:srgbClr val="FC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332000"/>
            <a:ext cx="1075211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B13A3A"/>
                </a:solidFill>
                <a:latin typeface="Calibri"/>
              </a:rPr>
              <a:t>Trigger: </a:t>
            </a:r>
            <a:r>
              <a:rPr sz="1400">
                <a:solidFill>
                  <a:srgbClr val="212C4E"/>
                </a:solidFill>
                <a:latin typeface="Consolas"/>
              </a:rPr>
              <a:t>stance = harm_to_others   OG   tense ∈ {planning, unclear}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944000"/>
            <a:ext cx="1111211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C4E"/>
                </a:solidFill>
                <a:latin typeface="Calibri"/>
              </a:rPr>
              <a:t>Hva noden gjør (LLM-drevet via REFUSE_HARM_PROMPT):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304000"/>
            <a:ext cx="11112119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1. Anerkjenner følelsen </a:t>
            </a:r>
            <a:r>
              <a:rPr sz="1300">
                <a:solidFill>
                  <a:srgbClr val="212C4E"/>
                </a:solidFill>
                <a:latin typeface="Calibri"/>
              </a:rPr>
              <a:t>kort (sårhet, sinne, sjalusi, hevn) — uten å moralisere.</a:t>
            </a:r>
          </a:p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2. Sier tydelig fra </a:t>
            </a:r>
            <a:r>
              <a:rPr sz="1300">
                <a:solidFill>
                  <a:srgbClr val="212C4E"/>
                </a:solidFill>
                <a:latin typeface="Calibri"/>
              </a:rPr>
              <a:t>om at handlingen er ulovlig eller alvorlig skadelig. Refererer norsk straffelov når mulig (§267a deling av nakenbilder, §282 mishandling, §263/266 trusler, §297–299 overgrep, §305 grooming, §145 stalkerware…).</a:t>
            </a:r>
          </a:p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3. ALDRI beskriver hvordan </a:t>
            </a:r>
            <a:r>
              <a:rPr sz="1300">
                <a:solidFill>
                  <a:srgbClr val="212C4E"/>
                </a:solidFill>
                <a:latin typeface="Calibri"/>
              </a:rPr>
              <a:t>handlingen kan utføres. Ingen verktøy, apper eller metoder — ikke engang som «advarsel».</a:t>
            </a:r>
          </a:p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4. Avslutter med 2–3 ressurser </a:t>
            </a:r>
            <a:r>
              <a:rPr sz="1300">
                <a:solidFill>
                  <a:srgbClr val="212C4E"/>
                </a:solidFill>
                <a:latin typeface="Calibri"/>
              </a:rPr>
              <a:t>tilpasset situasjonen: Mental Helse Ungdom (116 123), Kors på halsen (16 111), Slettmeg.no, politiet, Sex og samfunn, en voksen man stoler på.</a:t>
            </a:r>
          </a:p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Statisk fallback </a:t>
            </a:r>
            <a:r>
              <a:rPr sz="1300">
                <a:solidFill>
                  <a:srgbClr val="212C4E"/>
                </a:solidFill>
                <a:latin typeface="Calibri"/>
              </a:rPr>
              <a:t>(HARM_REFUSAL_ANSWER) brukes hvis LLM-kallet feiler — generisk og dekker alle harm-kategorier.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help_after_harm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Skadebegrensning når brukeren AVSLØRER at hen allerede har gjort noe som har skadet en annen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11112119" cy="576000"/>
          </a:xfrm>
          <a:prstGeom prst="roundRect">
            <a:avLst/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332000"/>
            <a:ext cx="1075211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E8B57"/>
                </a:solidFill>
                <a:latin typeface="Calibri"/>
              </a:rPr>
              <a:t>Trigger: </a:t>
            </a:r>
            <a:r>
              <a:rPr sz="1400">
                <a:solidFill>
                  <a:srgbClr val="212C4E"/>
                </a:solidFill>
                <a:latin typeface="Consolas"/>
              </a:rPr>
              <a:t>stance = harm_to_others   OG   tense =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944000"/>
            <a:ext cx="1111211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C4E"/>
                </a:solidFill>
                <a:latin typeface="Calibri"/>
              </a:rPr>
              <a:t>Hva noden gjør (LLM-drevet via HELP_AFTER_HARM_PROMPT):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304000"/>
            <a:ext cx="11112119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Ikke en avvisning. </a:t>
            </a:r>
            <a:r>
              <a:rPr sz="1300">
                <a:solidFill>
                  <a:srgbClr val="212C4E"/>
                </a:solidFill>
                <a:latin typeface="Calibri"/>
              </a:rPr>
              <a:t>Skaden er gjort; et kaldt nei hjelper ingen. Anerkjenner at det krever mot å rekke ut etter å ha gjort noe vanskelig.</a:t>
            </a:r>
          </a:p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Sier tydelig fra </a:t>
            </a:r>
            <a:r>
              <a:rPr sz="1300">
                <a:solidFill>
                  <a:srgbClr val="212C4E"/>
                </a:solidFill>
                <a:latin typeface="Calibri"/>
              </a:rPr>
              <a:t>om at handlingen er alvorlig, refererer paragraf hvis mulig — men ikke for å straffe brukeren. Realistisk bilde av konsekvenser, ikke løfter om at det blir greit.</a:t>
            </a:r>
          </a:p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Stoppe videre skade først: </a:t>
            </a:r>
            <a:r>
              <a:rPr sz="1300">
                <a:solidFill>
                  <a:srgbClr val="212C4E"/>
                </a:solidFill>
                <a:latin typeface="Calibri"/>
              </a:rPr>
              <a:t>Slettmeg.no for spredte bilder/informasjon. Slett selv også.</a:t>
            </a:r>
          </a:p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Snakk med en voksen </a:t>
            </a:r>
            <a:r>
              <a:rPr sz="1300">
                <a:solidFill>
                  <a:srgbClr val="212C4E"/>
                </a:solidFill>
                <a:latin typeface="Calibri"/>
              </a:rPr>
              <a:t>(foreldre, helsesykepleier, lærer) så raskt som mulig.</a:t>
            </a:r>
          </a:p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Vurder politi/advokat selv. </a:t>
            </a:r>
            <a:r>
              <a:rPr sz="1300">
                <a:solidFill>
                  <a:srgbClr val="212C4E"/>
                </a:solidFill>
                <a:latin typeface="Calibri"/>
              </a:rPr>
              <a:t>Å ta initiativ blir ofte sett som formildende.</a:t>
            </a:r>
          </a:p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Tenk på den som er rammet. </a:t>
            </a:r>
            <a:r>
              <a:rPr sz="1300">
                <a:solidFill>
                  <a:srgbClr val="212C4E"/>
                </a:solidFill>
                <a:latin typeface="Calibri"/>
              </a:rPr>
              <a:t>Begrens skaden — beklage direkte eller via en voksen.</a:t>
            </a:r>
          </a:p>
          <a:p>
            <a:pPr algn="l">
              <a:spcAft>
                <a:spcPts val="600"/>
              </a:spcAft>
            </a:pPr>
            <a:r>
              <a:rPr b="1" sz="1300">
                <a:solidFill>
                  <a:srgbClr val="212C4E"/>
                </a:solidFill>
                <a:latin typeface="Calibri"/>
              </a:rPr>
              <a:t>Få hjelp selv. </a:t>
            </a:r>
            <a:r>
              <a:rPr sz="1300">
                <a:solidFill>
                  <a:srgbClr val="212C4E"/>
                </a:solidFill>
                <a:latin typeface="Calibri"/>
              </a:rPr>
              <a:t>Mental Helse Ungdom 116 123, Kors på halsen 16 111.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Hvorfor harm-grenene hopper over retrieval og empathy_rewrite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To kategoriske valg som beskytter integriteten i svarene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540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0000" y="1260000"/>
            <a:ext cx="540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33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13A3A"/>
                </a:solidFill>
                <a:latin typeface="Calibri"/>
              </a:rPr>
              <a:t>Ingen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728000"/>
            <a:ext cx="504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C4E"/>
                </a:solidFill>
                <a:latin typeface="Calibri"/>
              </a:rPr>
              <a:t>Kunnskapsbasen er skrevet for ofre, ikke gjerningspersoner.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C4E"/>
                </a:solidFill>
                <a:latin typeface="Calibri"/>
              </a:rPr>
              <a:t>Å hente artikler om «deling av nakenbilder» og bruke dem på et gjerningsperson-spørsmål gir feil ramme — som om brukeren var den utsatte.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C4E"/>
                </a:solidFill>
                <a:latin typeface="Calibri"/>
              </a:rPr>
              <a:t>Sikkerhetspromptene formulerer svaret direkte, slik at det treffer riktig rolle og 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133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13A3A"/>
                </a:solidFill>
                <a:latin typeface="Calibri"/>
              </a:rPr>
              <a:t>Ingen empathy_rewrite / apply_response_style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1728000"/>
            <a:ext cx="504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12C4E"/>
                </a:solidFill>
                <a:latin typeface="Calibri"/>
              </a:rPr>
              <a:t>Style-promptene har offer-orienterte eksempler (særlig for «deling av nakenbilder uten samtykke»).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C4E"/>
                </a:solidFill>
                <a:latin typeface="Calibri"/>
              </a:rPr>
              <a:t>En rewrite ville dratt svaret tilbake mot offer-rammen, uansett stance.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C4E"/>
                </a:solidFill>
                <a:latin typeface="Calibri"/>
              </a:rPr>
              <a:t>En varm/støttende omskriving kan også myke opp et avslag på en uheldig måte.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12C4E"/>
                </a:solidFill>
                <a:latin typeface="Calibri"/>
              </a:rPr>
              <a:t>Resultat: harm-grenene leverer ferdig formulert tekst direkte ut, uten ekstra LLM-pass.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Eksempler på klassifisering</a:t>
            </a:r>
          </a:p>
          <a:p>
            <a:r>
              <a:rPr sz="1400">
                <a:solidFill>
                  <a:srgbClr val="E2E7F1"/>
                </a:solidFill>
                <a:latin typeface="Calibri"/>
              </a:rPr>
              <a:t>Samme tema, ulik stance og tense — helt ulikt svar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332000"/>
            <a:ext cx="1111211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000" y="1332000"/>
            <a:ext cx="144000" cy="1080000"/>
          </a:xfrm>
          <a:prstGeom prst="roundRect">
            <a:avLst/>
          </a:prstGeom>
          <a:solidFill>
            <a:srgbClr val="336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1422000"/>
            <a:ext cx="10392119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1">
                <a:solidFill>
                  <a:srgbClr val="212C4E"/>
                </a:solidFill>
                <a:latin typeface="Calibri"/>
              </a:rPr>
              <a:t>«Hva sier loven om deling av nakenbilder?»</a:t>
            </a:r>
          </a:p>
          <a:p>
            <a:r>
              <a:rPr sz="1200" b="1">
                <a:solidFill>
                  <a:srgbClr val="3368C6"/>
                </a:solidFill>
                <a:latin typeface="Consolas"/>
              </a:rPr>
              <a:t>info_seeker · na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Normal flyt: retrieval + grounded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484000"/>
            <a:ext cx="1111211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000" y="2484000"/>
            <a:ext cx="144000" cy="1080000"/>
          </a:xfrm>
          <a:prstGeom prst="roundRect">
            <a:avLst/>
          </a:prstGeom>
          <a:solidFill>
            <a:srgbClr val="C99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2574000"/>
            <a:ext cx="10392119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1">
                <a:solidFill>
                  <a:srgbClr val="212C4E"/>
                </a:solidFill>
                <a:latin typeface="Calibri"/>
              </a:rPr>
              <a:t>«Eksen min truer med å dele nakenbilder av meg»</a:t>
            </a:r>
          </a:p>
          <a:p>
            <a:r>
              <a:rPr sz="1200" b="1">
                <a:solidFill>
                  <a:srgbClr val="C99A18"/>
                </a:solidFill>
                <a:latin typeface="Consolas"/>
              </a:rPr>
              <a:t>affected_party · na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Normal flyt, men supportive style: validering +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636000"/>
            <a:ext cx="1111211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0000" y="3636000"/>
            <a:ext cx="144000" cy="1080000"/>
          </a:xfrm>
          <a:prstGeom prst="roundRect">
            <a:avLst/>
          </a:prstGeom>
          <a:solidFill>
            <a:srgbClr val="B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000" y="3726000"/>
            <a:ext cx="10392119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1">
                <a:solidFill>
                  <a:srgbClr val="212C4E"/>
                </a:solidFill>
                <a:latin typeface="Calibri"/>
              </a:rPr>
              <a:t>«Jeg vil dele nakenbilder av eksen, hvordan?»</a:t>
            </a:r>
          </a:p>
          <a:p>
            <a:r>
              <a:rPr sz="1200" b="1">
                <a:solidFill>
                  <a:srgbClr val="B13A3A"/>
                </a:solidFill>
                <a:latin typeface="Consolas"/>
              </a:rPr>
              <a:t>harm_to_others · planning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→ refuse_harm_to_others: avslag + ressurser, ingen «hvordan».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788000"/>
            <a:ext cx="1111211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0000" y="4788000"/>
            <a:ext cx="144000" cy="108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000" y="4878000"/>
            <a:ext cx="10392119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1">
                <a:solidFill>
                  <a:srgbClr val="212C4E"/>
                </a:solidFill>
                <a:latin typeface="Calibri"/>
              </a:rPr>
              <a:t>«Jeg har delt nakenbilder av eksen, hva nå?»</a:t>
            </a:r>
          </a:p>
          <a:p>
            <a:r>
              <a:rPr sz="1200" b="1">
                <a:solidFill>
                  <a:srgbClr val="2E8B57"/>
                </a:solidFill>
                <a:latin typeface="Consolas"/>
              </a:rPr>
              <a:t>harm_to_others · completed</a:t>
            </a:r>
          </a:p>
          <a:p>
            <a:r>
              <a:rPr sz="1200">
                <a:solidFill>
                  <a:srgbClr val="555B6B"/>
                </a:solidFill>
                <a:latin typeface="Calibri"/>
              </a:rPr>
              <a:t>→ help_after_harm: skadebegrensning, voksne, politi, Slettmeg.no.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64000"/>
          </a:xfrm>
          <a:prstGeom prst="rect">
            <a:avLst/>
          </a:prstGeom>
          <a:solidFill>
            <a:srgbClr val="21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Oppsummering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752119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12C4E"/>
                </a:solidFill>
                <a:latin typeface="Calibri"/>
              </a:rPr>
              <a:t>analyze_query </a:t>
            </a:r>
            <a:r>
              <a:rPr sz="1500">
                <a:solidFill>
                  <a:srgbClr val="212C4E"/>
                </a:solidFill>
                <a:latin typeface="Calibri"/>
              </a:rPr>
              <a:t>produserer fem felter på én LLM-kall: refined_query, needs_subqueries, query_severity, stance, harm_to_others_tense.</a:t>
            </a:r>
          </a:p>
          <a:p>
            <a:pPr algn="l">
              <a:spcAft>
                <a:spcPts val="600"/>
              </a:spcAft>
            </a:pPr>
            <a:r>
              <a:rPr b="1" sz="1500">
                <a:solidFill>
                  <a:srgbClr val="212C4E"/>
                </a:solidFill>
                <a:latin typeface="Calibri"/>
              </a:rPr>
              <a:t>Severity styrer tonen, </a:t>
            </a:r>
            <a:r>
              <a:rPr sz="1500">
                <a:solidFill>
                  <a:srgbClr val="212C4E"/>
                </a:solidFill>
                <a:latin typeface="Calibri"/>
              </a:rPr>
              <a:t>stance styrer ruten. Disse er ortogonale akser.</a:t>
            </a:r>
          </a:p>
          <a:p>
            <a:pPr algn="l">
              <a:spcAft>
                <a:spcPts val="600"/>
              </a:spcAft>
            </a:pPr>
            <a:r>
              <a:rPr b="1" sz="1500">
                <a:solidFill>
                  <a:srgbClr val="212C4E"/>
                </a:solidFill>
                <a:latin typeface="Calibri"/>
              </a:rPr>
              <a:t>harm_to_others-grenen </a:t>
            </a:r>
            <a:r>
              <a:rPr sz="1500">
                <a:solidFill>
                  <a:srgbClr val="212C4E"/>
                </a:solidFill>
                <a:latin typeface="Calibri"/>
              </a:rPr>
              <a:t>splitter på tense: planning/unclear → refuse_harm_to_others, completed → help_after_harm.</a:t>
            </a:r>
          </a:p>
          <a:p>
            <a:pPr algn="l">
              <a:spcAft>
                <a:spcPts val="600"/>
              </a:spcAft>
            </a:pPr>
            <a:r>
              <a:rPr b="1" sz="1500">
                <a:solidFill>
                  <a:srgbClr val="212C4E"/>
                </a:solidFill>
                <a:latin typeface="Calibri"/>
              </a:rPr>
              <a:t>Begge harm-nodene </a:t>
            </a:r>
            <a:r>
              <a:rPr sz="1500">
                <a:solidFill>
                  <a:srgbClr val="212C4E"/>
                </a:solidFill>
                <a:latin typeface="Calibri"/>
              </a:rPr>
              <a:t>hopper over retrieval og style-rewrite — svaret produseres av en dedikert sikkerhetsprompt.</a:t>
            </a:r>
          </a:p>
          <a:p>
            <a:pPr algn="l">
              <a:spcAft>
                <a:spcPts val="600"/>
              </a:spcAft>
            </a:pPr>
            <a:r>
              <a:rPr b="1" sz="1500">
                <a:solidFill>
                  <a:srgbClr val="212C4E"/>
                </a:solidFill>
                <a:latin typeface="Calibri"/>
              </a:rPr>
              <a:t>Statisk fallback </a:t>
            </a:r>
            <a:r>
              <a:rPr sz="1500">
                <a:solidFill>
                  <a:srgbClr val="212C4E"/>
                </a:solidFill>
                <a:latin typeface="Calibri"/>
              </a:rPr>
              <a:t>(HARM_REFUSAL_ANSWER, HELP_AFTER_HARM_ANSWER) sikrer at noden alltid leverer noe meningsfullt, selv ved LLM-feil.</a:t>
            </a:r>
          </a:p>
          <a:p>
            <a:pPr algn="l">
              <a:spcAft>
                <a:spcPts val="600"/>
              </a:spcAft>
            </a:pPr>
            <a:r>
              <a:rPr b="1" sz="1500">
                <a:solidFill>
                  <a:srgbClr val="212C4E"/>
                </a:solidFill>
                <a:latin typeface="Calibri"/>
              </a:rPr>
              <a:t>Klassifikatoren bryter tvil mot harm_to_others </a:t>
            </a:r>
            <a:r>
              <a:rPr sz="1500">
                <a:solidFill>
                  <a:srgbClr val="212C4E"/>
                </a:solidFill>
                <a:latin typeface="Calibri"/>
              </a:rPr>
              <a:t>når brukeren uttrykker konkret intensjon — føre var-prinsippet.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